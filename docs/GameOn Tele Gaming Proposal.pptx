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8288000" cy="10287000"/>
  <p:notesSz cx="6858000" cy="9144000"/>
  <p:embeddedFontLst>
    <p:embeddedFont>
      <p:font typeface="Lora" panose="020B0604020202020204" charset="0"/>
      <p:regular r:id="rId27"/>
    </p:embeddedFont>
    <p:embeddedFont>
      <p:font typeface="Poppins" panose="020B0604020202020204" charset="0"/>
      <p:regular r:id="rId28"/>
    </p:embeddedFont>
    <p:embeddedFont>
      <p:font typeface="Lora Italics" panose="020B0604020202020204" charset="0"/>
      <p:regular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68364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55580" y="1303020"/>
            <a:ext cx="6720840" cy="7886700"/>
            <a:chOff x="0" y="0"/>
            <a:chExt cx="69264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647" cy="812800"/>
            </a:xfrm>
            <a:custGeom>
              <a:avLst/>
              <a:gdLst/>
              <a:ahLst/>
              <a:cxnLst/>
              <a:rect l="l" t="t" r="r" b="b"/>
              <a:pathLst>
                <a:path w="692647" h="812800">
                  <a:moveTo>
                    <a:pt x="231007" y="19070"/>
                  </a:moveTo>
                  <a:cubicBezTo>
                    <a:pt x="266403" y="7556"/>
                    <a:pt x="306888" y="0"/>
                    <a:pt x="346510" y="0"/>
                  </a:cubicBezTo>
                  <a:cubicBezTo>
                    <a:pt x="386133" y="0"/>
                    <a:pt x="424261" y="6476"/>
                    <a:pt x="459397" y="17990"/>
                  </a:cubicBezTo>
                  <a:cubicBezTo>
                    <a:pt x="460145" y="18350"/>
                    <a:pt x="460893" y="18350"/>
                    <a:pt x="461640" y="18710"/>
                  </a:cubicBezTo>
                  <a:cubicBezTo>
                    <a:pt x="593590" y="64765"/>
                    <a:pt x="690778" y="186379"/>
                    <a:pt x="692647" y="328502"/>
                  </a:cubicBezTo>
                  <a:lnTo>
                    <a:pt x="692647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869" y="185660"/>
                    <a:pt x="97561" y="64045"/>
                    <a:pt x="231007" y="19070"/>
                  </a:cubicBezTo>
                  <a:close/>
                </a:path>
              </a:pathLst>
            </a:custGeom>
            <a:blipFill>
              <a:blip r:embed="rId3"/>
              <a:stretch>
                <a:fillRect l="-239" r="-23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58716" y="7742396"/>
            <a:ext cx="3237548" cy="700088"/>
            <a:chOff x="0" y="0"/>
            <a:chExt cx="4316730" cy="9334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16730" cy="933450"/>
            </a:xfrm>
            <a:custGeom>
              <a:avLst/>
              <a:gdLst/>
              <a:ahLst/>
              <a:cxnLst/>
              <a:rect l="l" t="t" r="r" b="b"/>
              <a:pathLst>
                <a:path w="4316730" h="933450">
                  <a:moveTo>
                    <a:pt x="0" y="466725"/>
                  </a:moveTo>
                  <a:cubicBezTo>
                    <a:pt x="0" y="208915"/>
                    <a:pt x="208915" y="0"/>
                    <a:pt x="466725" y="0"/>
                  </a:cubicBezTo>
                  <a:lnTo>
                    <a:pt x="3850005" y="0"/>
                  </a:lnTo>
                  <a:cubicBezTo>
                    <a:pt x="4107815" y="0"/>
                    <a:pt x="4316730" y="208915"/>
                    <a:pt x="4316730" y="466725"/>
                  </a:cubicBezTo>
                  <a:cubicBezTo>
                    <a:pt x="4316730" y="724535"/>
                    <a:pt x="4107815" y="933450"/>
                    <a:pt x="3850005" y="933450"/>
                  </a:cubicBezTo>
                  <a:lnTo>
                    <a:pt x="466725" y="933450"/>
                  </a:lnTo>
                  <a:cubicBezTo>
                    <a:pt x="208915" y="933450"/>
                    <a:pt x="0" y="724535"/>
                    <a:pt x="0" y="46672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" b="-2"/>
              </a:stretch>
            </a:blipFill>
            <a:ln w="14288" cap="sq">
              <a:solidFill>
                <a:srgbClr val="1F1C19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65860" y="882872"/>
            <a:ext cx="399011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8"/>
              </a:lnSpc>
            </a:pPr>
            <a:r>
              <a:rPr lang="en-US" sz="1423" spc="32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74828" y="895350"/>
            <a:ext cx="1601592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708"/>
              </a:lnSpc>
            </a:pPr>
            <a:r>
              <a:rPr lang="en-US" sz="1423" spc="32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5860" y="2834640"/>
            <a:ext cx="714375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65"/>
              </a:lnSpc>
            </a:pPr>
            <a:r>
              <a:rPr lang="en-US" sz="447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ETHIO TELECOM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860" y="4165092"/>
            <a:ext cx="7143750" cy="66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65"/>
              </a:lnSpc>
            </a:pPr>
            <a:r>
              <a:rPr lang="en-US" sz="4471" i="1" dirty="0" smtClean="0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PARTNERSHIP PROPOSAL</a:t>
            </a:r>
            <a:endParaRPr lang="en-US" sz="4471" i="1" dirty="0">
              <a:solidFill>
                <a:srgbClr val="1F1C19"/>
              </a:solidFill>
              <a:latin typeface="Lora Italics"/>
              <a:ea typeface="Lora Italics"/>
              <a:cs typeface="Lora Italics"/>
              <a:sym typeface="Lora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7200" y="5391245"/>
            <a:ext cx="8662035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97"/>
              </a:lnSpc>
            </a:pPr>
            <a:r>
              <a:rPr lang="en-US" sz="1798" dirty="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TELE: DIGITAL GAMING &amp; ENTERTAINMENT PLATFORM</a:t>
            </a:r>
          </a:p>
          <a:p>
            <a:pPr marL="0" lvl="0" indent="0" algn="ctr">
              <a:lnSpc>
                <a:spcPts val="2997"/>
              </a:lnSpc>
            </a:pPr>
            <a:r>
              <a:rPr lang="en-US" sz="1798" dirty="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TELEBIRR · MOBILE GAMING · DIGITAL ENTERTAINMENT · COMPETITION · REWARDS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2739" y="7959090"/>
            <a:ext cx="2509503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08"/>
              </a:lnSpc>
            </a:pPr>
            <a:r>
              <a:rPr lang="en-US" sz="1423" spc="179">
                <a:solidFill>
                  <a:srgbClr val="1F1C19"/>
                </a:solidFill>
                <a:latin typeface="Poppins"/>
                <a:ea typeface="Poppins"/>
                <a:cs typeface="Poppins"/>
                <a:sym typeface="Poppins"/>
              </a:rPr>
              <a:t>gameon-tele.com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43500" y="7781163"/>
            <a:ext cx="1781175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28"/>
              </a:lnSpc>
            </a:pPr>
            <a:r>
              <a:rPr lang="en-US" sz="1274" spc="20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Prepared by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43500" y="8159210"/>
            <a:ext cx="178117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8"/>
              </a:lnSpc>
            </a:pPr>
            <a:r>
              <a:rPr lang="en-US" sz="1423" dirty="0" err="1" smtClean="0">
                <a:solidFill>
                  <a:srgbClr val="1F1C19"/>
                </a:solidFill>
                <a:latin typeface="Poppins"/>
                <a:ea typeface="Poppins"/>
                <a:cs typeface="Poppins"/>
                <a:sym typeface="Poppins"/>
              </a:rPr>
              <a:t>Icconect</a:t>
            </a:r>
            <a:endParaRPr lang="en-US" sz="1423" dirty="0">
              <a:solidFill>
                <a:srgbClr val="1F1C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338060" y="7781163"/>
            <a:ext cx="1781175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28"/>
              </a:lnSpc>
            </a:pPr>
            <a:r>
              <a:rPr lang="en-US" sz="1274" spc="20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Date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38060" y="8159210"/>
            <a:ext cx="178117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8"/>
              </a:lnSpc>
            </a:pPr>
            <a:r>
              <a:rPr lang="en-US" sz="1423">
                <a:solidFill>
                  <a:srgbClr val="1F1C19"/>
                </a:solidFill>
                <a:latin typeface="Poppins"/>
                <a:ea typeface="Poppins"/>
                <a:cs typeface="Poppins"/>
                <a:sym typeface="Poppins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612380" cy="10287000"/>
            <a:chOff x="0" y="0"/>
            <a:chExt cx="1014984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l="35581" r="35581"/>
            <a:stretch>
              <a:fillRect/>
            </a:stretch>
          </p:blipFill>
          <p:spPr>
            <a:xfrm>
              <a:off x="0" y="0"/>
              <a:ext cx="1014984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0"/>
            <a:ext cx="7612380" cy="10287000"/>
            <a:chOff x="0" y="0"/>
            <a:chExt cx="1014984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49840" cy="13716000"/>
            </a:xfrm>
            <a:custGeom>
              <a:avLst/>
              <a:gdLst/>
              <a:ahLst/>
              <a:cxnLst/>
              <a:rect l="l" t="t" r="r" b="b"/>
              <a:pathLst>
                <a:path w="10149840" h="13716000">
                  <a:moveTo>
                    <a:pt x="0" y="0"/>
                  </a:moveTo>
                  <a:lnTo>
                    <a:pt x="10149840" y="0"/>
                  </a:lnTo>
                  <a:lnTo>
                    <a:pt x="1014984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2" r="-42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908256" y="8291036"/>
            <a:ext cx="3237548" cy="700088"/>
            <a:chOff x="0" y="0"/>
            <a:chExt cx="4316730" cy="9334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16730" cy="933450"/>
            </a:xfrm>
            <a:custGeom>
              <a:avLst/>
              <a:gdLst/>
              <a:ahLst/>
              <a:cxnLst/>
              <a:rect l="l" t="t" r="r" b="b"/>
              <a:pathLst>
                <a:path w="4316730" h="933450">
                  <a:moveTo>
                    <a:pt x="0" y="466725"/>
                  </a:moveTo>
                  <a:cubicBezTo>
                    <a:pt x="0" y="208915"/>
                    <a:pt x="208915" y="0"/>
                    <a:pt x="466725" y="0"/>
                  </a:cubicBezTo>
                  <a:lnTo>
                    <a:pt x="3850005" y="0"/>
                  </a:lnTo>
                  <a:cubicBezTo>
                    <a:pt x="4107815" y="0"/>
                    <a:pt x="4316730" y="208915"/>
                    <a:pt x="4316730" y="466725"/>
                  </a:cubicBezTo>
                  <a:cubicBezTo>
                    <a:pt x="4316730" y="724535"/>
                    <a:pt x="4107815" y="933450"/>
                    <a:pt x="3850005" y="933450"/>
                  </a:cubicBezTo>
                  <a:lnTo>
                    <a:pt x="466725" y="933450"/>
                  </a:lnTo>
                  <a:cubicBezTo>
                    <a:pt x="208915" y="933450"/>
                    <a:pt x="0" y="724535"/>
                    <a:pt x="0" y="46672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108" b="-40108"/>
              </a:stretch>
            </a:blipFill>
            <a:ln w="14288" cap="sq">
              <a:solidFill>
                <a:srgbClr val="1F1C19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8915400" y="1345025"/>
            <a:ext cx="81915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10"/>
              </a:lnSpc>
            </a:pPr>
            <a:r>
              <a:rPr lang="en-US" sz="1341" spc="31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Current &amp; Proposed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15400" y="1959864"/>
            <a:ext cx="81915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479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GameON Tele within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5400" y="2755392"/>
            <a:ext cx="81915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4796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Telebirr SuperApp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15400" y="3886200"/>
            <a:ext cx="8191500" cy="1853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6"/>
              </a:lnSpc>
            </a:pPr>
            <a:r>
              <a:rPr lang="en-US" sz="1695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integrates natively into the telebirr SuperApp as a white-label game portal. Users flow from TELEBIRR → GAME CENTER → GAMEON TELE → DISCOVER → SELECT → ACCESS → PLAY → SCORE → COMPETE → REWARD → RETURN. Proposed partnership enables carrier billing, subscription pricing, and national tournament cups to drive transactions and platform stickiness.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15400" y="6313170"/>
            <a:ext cx="238125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96"/>
              </a:lnSpc>
            </a:pPr>
            <a:r>
              <a:rPr lang="en-US" sz="449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215.50M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5400" y="7225665"/>
            <a:ext cx="2381250" cy="25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7"/>
              </a:lnSpc>
            </a:pPr>
            <a:r>
              <a:rPr lang="en-US" sz="141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ETB 5-year projection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90020" y="6313170"/>
            <a:ext cx="238125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96"/>
              </a:lnSpc>
            </a:pPr>
            <a:r>
              <a:rPr lang="en-US" sz="449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30+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90020" y="7225665"/>
            <a:ext cx="2381250" cy="25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7"/>
              </a:lnSpc>
            </a:pPr>
            <a:r>
              <a:rPr lang="en-US" sz="141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Games at launch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64640" y="6313170"/>
            <a:ext cx="23812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96"/>
              </a:lnSpc>
            </a:pPr>
            <a:r>
              <a:rPr lang="en-US" sz="4496" dirty="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r>
              <a:rPr lang="en-US" sz="4496" dirty="0" smtClean="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5M</a:t>
            </a:r>
            <a:r>
              <a:rPr lang="en-US" sz="4496" dirty="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64640" y="7225665"/>
            <a:ext cx="2381250" cy="25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7"/>
              </a:lnSpc>
            </a:pPr>
            <a:r>
              <a:rPr lang="en-US" sz="141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Telebirr user 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17305" y="8517255"/>
            <a:ext cx="321945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10"/>
              </a:lnSpc>
            </a:pPr>
            <a:r>
              <a:rPr lang="en-US" sz="1341" spc="169" dirty="0">
                <a:solidFill>
                  <a:srgbClr val="1F1C19"/>
                </a:solidFill>
                <a:latin typeface="Poppins"/>
                <a:ea typeface="Poppins"/>
                <a:cs typeface="Poppins"/>
                <a:sym typeface="Poppins"/>
              </a:rPr>
              <a:t>View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50140" y="1577340"/>
            <a:ext cx="4526280" cy="45262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56335" y="4791075"/>
            <a:ext cx="5093970" cy="3928110"/>
            <a:chOff x="0" y="0"/>
            <a:chExt cx="6791960" cy="52374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91960" cy="5237480"/>
            </a:xfrm>
            <a:custGeom>
              <a:avLst/>
              <a:gdLst/>
              <a:ahLst/>
              <a:cxnLst/>
              <a:rect l="l" t="t" r="r" b="b"/>
              <a:pathLst>
                <a:path w="6791960" h="52374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571361" y="0"/>
                  </a:lnTo>
                  <a:cubicBezTo>
                    <a:pt x="6693154" y="0"/>
                    <a:pt x="6791960" y="98806"/>
                    <a:pt x="6791960" y="220599"/>
                  </a:cubicBezTo>
                  <a:lnTo>
                    <a:pt x="6791960" y="5016881"/>
                  </a:lnTo>
                  <a:cubicBezTo>
                    <a:pt x="6791960" y="5138674"/>
                    <a:pt x="6693154" y="5237480"/>
                    <a:pt x="6571361" y="5237480"/>
                  </a:cubicBezTo>
                  <a:lnTo>
                    <a:pt x="220599" y="5237480"/>
                  </a:lnTo>
                  <a:cubicBezTo>
                    <a:pt x="98806" y="5237480"/>
                    <a:pt x="0" y="5138674"/>
                    <a:pt x="0" y="5016881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11315" y="4791075"/>
            <a:ext cx="5093970" cy="3928110"/>
            <a:chOff x="0" y="0"/>
            <a:chExt cx="6791960" cy="5237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91960" cy="5237480"/>
            </a:xfrm>
            <a:custGeom>
              <a:avLst/>
              <a:gdLst/>
              <a:ahLst/>
              <a:cxnLst/>
              <a:rect l="l" t="t" r="r" b="b"/>
              <a:pathLst>
                <a:path w="6791960" h="52374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571361" y="0"/>
                  </a:lnTo>
                  <a:cubicBezTo>
                    <a:pt x="6693154" y="0"/>
                    <a:pt x="6791960" y="98806"/>
                    <a:pt x="6791960" y="220599"/>
                  </a:cubicBezTo>
                  <a:lnTo>
                    <a:pt x="6791960" y="5016881"/>
                  </a:lnTo>
                  <a:cubicBezTo>
                    <a:pt x="6791960" y="5138674"/>
                    <a:pt x="6693154" y="5237480"/>
                    <a:pt x="6571361" y="5237480"/>
                  </a:cubicBezTo>
                  <a:lnTo>
                    <a:pt x="220599" y="5237480"/>
                  </a:lnTo>
                  <a:cubicBezTo>
                    <a:pt x="98806" y="5237480"/>
                    <a:pt x="0" y="5138674"/>
                    <a:pt x="0" y="5016881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65860" y="1080230"/>
            <a:ext cx="8763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20"/>
              </a:lnSpc>
            </a:pPr>
            <a:r>
              <a:rPr lang="en-US" sz="1266" spc="293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03 — Strategic Market Transition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860" y="1684401"/>
            <a:ext cx="876300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5"/>
              </a:lnSpc>
            </a:pPr>
            <a:r>
              <a:rPr lang="en-US" sz="5695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From Traditional VAS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5860" y="2575941"/>
            <a:ext cx="876300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5"/>
              </a:lnSpc>
            </a:pPr>
            <a:r>
              <a:rPr lang="en-US" sz="5695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to Digital Gaming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4500" y="5368480"/>
            <a:ext cx="40005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564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Traditional Telecom VAS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500" y="6513195"/>
            <a:ext cx="4000500" cy="187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Static, low-engagement content with minimal interactivity. High subscriber churn driven by lack of value. Declining ARPU as users migrate to OTT alternatives. Legacy pricing models with limited monetization flexibility.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69480" y="5368480"/>
            <a:ext cx="40005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564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Digital Gaming Ecosystem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69480" y="6332220"/>
            <a:ext cx="4000500" cy="218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Instant play with zero-install HTML5/WebGL technology. Social competition and leaderboards driving daily retention. Microtransactions and subscription tiers generating recurring revenue. High-frequency engagement across youth demographics.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50140" y="6654165"/>
            <a:ext cx="4524375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0"/>
              </a:lnSpc>
            </a:pPr>
            <a:r>
              <a:rPr lang="en-US" sz="13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High-growth opportunity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50140" y="7378065"/>
            <a:ext cx="4524375" cy="79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3"/>
              </a:lnSpc>
            </a:pPr>
            <a:r>
              <a:rPr lang="en-US" sz="13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Digital gaming represents the fastest-growing segment in African telecom, replacing static VAS with engaging, monetizable experiences.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5860" y="9344787"/>
            <a:ext cx="3402663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— Ethio Telecom Partnership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61620" y="9344787"/>
            <a:ext cx="40957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9"/>
              </a:lnSpc>
            </a:pPr>
            <a:r>
              <a:rPr lang="en-US" sz="120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5860" y="4869180"/>
            <a:ext cx="5486400" cy="4251960"/>
            <a:chOff x="0" y="0"/>
            <a:chExt cx="849987" cy="6587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9987" cy="658740"/>
            </a:xfrm>
            <a:custGeom>
              <a:avLst/>
              <a:gdLst/>
              <a:ahLst/>
              <a:cxnLst/>
              <a:rect l="l" t="t" r="r" b="b"/>
              <a:pathLst>
                <a:path w="849987" h="658740">
                  <a:moveTo>
                    <a:pt x="35278" y="0"/>
                  </a:moveTo>
                  <a:lnTo>
                    <a:pt x="814709" y="0"/>
                  </a:lnTo>
                  <a:cubicBezTo>
                    <a:pt x="824065" y="0"/>
                    <a:pt x="833038" y="3717"/>
                    <a:pt x="839654" y="10333"/>
                  </a:cubicBezTo>
                  <a:cubicBezTo>
                    <a:pt x="846270" y="16948"/>
                    <a:pt x="849987" y="25922"/>
                    <a:pt x="849987" y="35278"/>
                  </a:cubicBezTo>
                  <a:lnTo>
                    <a:pt x="849987" y="623462"/>
                  </a:lnTo>
                  <a:cubicBezTo>
                    <a:pt x="849987" y="642945"/>
                    <a:pt x="834193" y="658740"/>
                    <a:pt x="814709" y="658740"/>
                  </a:cubicBezTo>
                  <a:lnTo>
                    <a:pt x="35278" y="658740"/>
                  </a:lnTo>
                  <a:cubicBezTo>
                    <a:pt x="15794" y="658740"/>
                    <a:pt x="0" y="642945"/>
                    <a:pt x="0" y="62346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blipFill>
              <a:blip r:embed="rId3"/>
              <a:stretch>
                <a:fillRect t="-322" b="-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02855" y="1636395"/>
            <a:ext cx="4545330" cy="3310890"/>
            <a:chOff x="0" y="0"/>
            <a:chExt cx="6060440" cy="44145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60440" cy="4414520"/>
            </a:xfrm>
            <a:custGeom>
              <a:avLst/>
              <a:gdLst/>
              <a:ahLst/>
              <a:cxnLst/>
              <a:rect l="l" t="t" r="r" b="b"/>
              <a:pathLst>
                <a:path w="6060440" h="44145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839714" y="0"/>
                  </a:lnTo>
                  <a:cubicBezTo>
                    <a:pt x="5961634" y="0"/>
                    <a:pt x="6060440" y="98806"/>
                    <a:pt x="6060440" y="220726"/>
                  </a:cubicBezTo>
                  <a:lnTo>
                    <a:pt x="6060440" y="4193794"/>
                  </a:lnTo>
                  <a:cubicBezTo>
                    <a:pt x="6060440" y="4315714"/>
                    <a:pt x="5961634" y="4414520"/>
                    <a:pt x="583971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092440" y="2125980"/>
            <a:ext cx="576072" cy="576072"/>
            <a:chOff x="0" y="0"/>
            <a:chExt cx="768096" cy="7680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3EFE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540615" y="1636395"/>
            <a:ext cx="4545330" cy="3310890"/>
            <a:chOff x="0" y="0"/>
            <a:chExt cx="6060440" cy="4414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60440" cy="4414520"/>
            </a:xfrm>
            <a:custGeom>
              <a:avLst/>
              <a:gdLst/>
              <a:ahLst/>
              <a:cxnLst/>
              <a:rect l="l" t="t" r="r" b="b"/>
              <a:pathLst>
                <a:path w="6060440" h="44145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839714" y="0"/>
                  </a:lnTo>
                  <a:cubicBezTo>
                    <a:pt x="5961634" y="0"/>
                    <a:pt x="6060440" y="98806"/>
                    <a:pt x="6060440" y="220726"/>
                  </a:cubicBezTo>
                  <a:lnTo>
                    <a:pt x="6060440" y="4193794"/>
                  </a:lnTo>
                  <a:cubicBezTo>
                    <a:pt x="6060440" y="4315714"/>
                    <a:pt x="5961634" y="4414520"/>
                    <a:pt x="583971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030200" y="2125980"/>
            <a:ext cx="576072" cy="576072"/>
            <a:chOff x="0" y="0"/>
            <a:chExt cx="768096" cy="7680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3EFE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602855" y="5408295"/>
            <a:ext cx="4545330" cy="3310890"/>
            <a:chOff x="0" y="0"/>
            <a:chExt cx="6060440" cy="4414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60440" cy="4414520"/>
            </a:xfrm>
            <a:custGeom>
              <a:avLst/>
              <a:gdLst/>
              <a:ahLst/>
              <a:cxnLst/>
              <a:rect l="l" t="t" r="r" b="b"/>
              <a:pathLst>
                <a:path w="6060440" h="44145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839714" y="0"/>
                  </a:lnTo>
                  <a:cubicBezTo>
                    <a:pt x="5961634" y="0"/>
                    <a:pt x="6060440" y="98806"/>
                    <a:pt x="6060440" y="220726"/>
                  </a:cubicBezTo>
                  <a:lnTo>
                    <a:pt x="6060440" y="4193794"/>
                  </a:lnTo>
                  <a:cubicBezTo>
                    <a:pt x="6060440" y="4315714"/>
                    <a:pt x="5961634" y="4414520"/>
                    <a:pt x="583971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092440" y="5897880"/>
            <a:ext cx="576072" cy="576072"/>
            <a:chOff x="0" y="0"/>
            <a:chExt cx="768096" cy="7680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3EFE9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540615" y="5408295"/>
            <a:ext cx="4545330" cy="3310890"/>
            <a:chOff x="0" y="0"/>
            <a:chExt cx="6060440" cy="4414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60440" cy="4414520"/>
            </a:xfrm>
            <a:custGeom>
              <a:avLst/>
              <a:gdLst/>
              <a:ahLst/>
              <a:cxnLst/>
              <a:rect l="l" t="t" r="r" b="b"/>
              <a:pathLst>
                <a:path w="6060440" h="44145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839714" y="0"/>
                  </a:lnTo>
                  <a:cubicBezTo>
                    <a:pt x="5961634" y="0"/>
                    <a:pt x="6060440" y="98806"/>
                    <a:pt x="6060440" y="220726"/>
                  </a:cubicBezTo>
                  <a:lnTo>
                    <a:pt x="6060440" y="4193794"/>
                  </a:lnTo>
                  <a:cubicBezTo>
                    <a:pt x="6060440" y="4315714"/>
                    <a:pt x="5961634" y="4414520"/>
                    <a:pt x="583971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3030200" y="5897880"/>
            <a:ext cx="576072" cy="576072"/>
            <a:chOff x="0" y="0"/>
            <a:chExt cx="768096" cy="7680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3EFE9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65860" y="1080230"/>
            <a:ext cx="5905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77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04 — Core Platform Pillars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5860" y="1684401"/>
            <a:ext cx="590550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1"/>
              </a:lnSpc>
            </a:pPr>
            <a:r>
              <a:rPr lang="en-US" sz="3159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GameON Tele</a:t>
            </a:r>
          </a:p>
          <a:p>
            <a:pPr marL="0" lvl="0" indent="0" algn="l">
              <a:lnSpc>
                <a:spcPts val="3791"/>
              </a:lnSpc>
            </a:pPr>
            <a:r>
              <a:rPr lang="en-US" sz="3159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Ecosystem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5860" y="3093720"/>
            <a:ext cx="5905500" cy="1164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45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Four integrated pillars power the GameON Tele platform — built for scale, optimised for telebirr, and designed to deliver measurable engagement across Ethiopia's digital gaming market.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92440" y="2947606"/>
            <a:ext cx="35623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7"/>
              </a:lnSpc>
            </a:pPr>
            <a:r>
              <a:rPr lang="en-US" sz="2548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DISCOVER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92440" y="3562350"/>
            <a:ext cx="3562350" cy="107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7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Dynamic game categories, intelligent search, trending titles, and personalised activity logs surface the right content to every user instantly.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30200" y="2947606"/>
            <a:ext cx="35623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7"/>
              </a:lnSpc>
            </a:pPr>
            <a:r>
              <a:rPr lang="en-US" sz="2548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PLAY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30200" y="3562350"/>
            <a:ext cx="3562350" cy="133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7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Zero-install HTML5/WebGL engine operates within the telebirr SuperApp webview. Sub-5MB bundles optimised for 3G/4G — mobile-first, frictionless, immediate.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92440" y="6719507"/>
            <a:ext cx="35623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7"/>
              </a:lnSpc>
            </a:pPr>
            <a:r>
              <a:rPr lang="en-US" sz="2548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COMPETE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92440" y="7334250"/>
            <a:ext cx="3562350" cy="133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7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Game-specific leaderboards with masked MSISDN privacy, scheduled tournament brackets, Daily Sprint Cups, Weekly Championships, and Monthly Grand Invitationals.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30200" y="6719507"/>
            <a:ext cx="35623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7"/>
              </a:lnSpc>
            </a:pPr>
            <a:r>
              <a:rPr lang="en-US" sz="2548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MONETIZE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30200" y="7334250"/>
            <a:ext cx="3562350" cy="107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7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Coin pay-per-play micro-transactions, Daily/Weekly/Monthly subscription tiers, and full telebirr API integration enabling seamless carrier billing and auto-debit.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80230"/>
            <a:ext cx="952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77">
                <a:solidFill>
                  <a:srgbClr val="B5896E"/>
                </a:solidFill>
                <a:latin typeface="Poppins"/>
                <a:ea typeface="Poppins"/>
                <a:cs typeface="Poppins"/>
                <a:sym typeface="Poppins"/>
              </a:rPr>
              <a:t>05 — Strategic Value Proposition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90116"/>
            <a:ext cx="9525000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4"/>
              </a:lnSpc>
            </a:pPr>
            <a:r>
              <a:rPr lang="en-US" sz="5487" i="1">
                <a:solidFill>
                  <a:srgbClr val="EDE7DE"/>
                </a:solidFill>
                <a:latin typeface="Lora Italics"/>
                <a:ea typeface="Lora Italics"/>
                <a:cs typeface="Lora Italics"/>
                <a:sym typeface="Lora Italics"/>
              </a:rPr>
              <a:t>Why Ethio Telecom Benefits from GameON Tele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9625" y="1946910"/>
            <a:ext cx="4572000" cy="856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3"/>
              </a:lnSpc>
            </a:pPr>
            <a:r>
              <a:rPr lang="en-US" sz="1389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Six high-impact strategic drivers that transform the telebirr SuperApp into a revenue-generating digital lifestyle platform for Ethiopia's youth.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6335" y="3899535"/>
            <a:ext cx="4819650" cy="4819650"/>
            <a:chOff x="0" y="0"/>
            <a:chExt cx="6426200" cy="642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714500" y="4457700"/>
            <a:ext cx="685800" cy="685800"/>
            <a:chOff x="0" y="0"/>
            <a:chExt cx="91440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72402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4500" y="5585270"/>
            <a:ext cx="37719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1"/>
              </a:lnSpc>
            </a:pPr>
            <a:r>
              <a:rPr lang="en-US" sz="2801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SuperApp Engagement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4500" y="6728460"/>
            <a:ext cx="3771900" cy="145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452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Transform telebirr from a payments utility into a daily digital destination. Gaming drives repeat sessions, increases DAU, and deepens platform stickiness across 55M+ users.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74155" y="3899535"/>
            <a:ext cx="4819650" cy="4819650"/>
            <a:chOff x="0" y="0"/>
            <a:chExt cx="6426200" cy="6426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132320" y="4457700"/>
            <a:ext cx="685800" cy="685800"/>
            <a:chOff x="0" y="0"/>
            <a:chExt cx="9144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714184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32320" y="5585270"/>
            <a:ext cx="37719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1"/>
              </a:lnSpc>
            </a:pPr>
            <a:r>
              <a:rPr lang="en-US" sz="2801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Revenue &amp; Retention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32320" y="6728460"/>
            <a:ext cx="3771900" cy="145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452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Unlock high-margin digital revenue via subscriptions and coin micro-transactions. Gamification-led retention reduces churn and captures the high-value youth demographic at scale.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991975" y="3899535"/>
            <a:ext cx="4819650" cy="4819650"/>
            <a:chOff x="0" y="0"/>
            <a:chExt cx="6426200" cy="6426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550140" y="4457700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55966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50140" y="5585270"/>
            <a:ext cx="37719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1"/>
              </a:lnSpc>
            </a:pPr>
            <a:r>
              <a:rPr lang="en-US" sz="2801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Scalable Ecosystem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50140" y="6728460"/>
            <a:ext cx="3771900" cy="175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452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Frictionless carrier billing removes payment friction entirely. A modular roadmap scales from 30 to 100+ games, growing data bundle sales and cementing Ethio Telecom's digital ecosystem moat.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04520" y="1089755"/>
            <a:ext cx="3771900" cy="3771900"/>
            <a:chOff x="0" y="0"/>
            <a:chExt cx="584366" cy="5843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366" cy="584366"/>
            </a:xfrm>
            <a:custGeom>
              <a:avLst/>
              <a:gdLst/>
              <a:ahLst/>
              <a:cxnLst/>
              <a:rect l="l" t="t" r="r" b="b"/>
              <a:pathLst>
                <a:path w="584366" h="584366">
                  <a:moveTo>
                    <a:pt x="292183" y="0"/>
                  </a:moveTo>
                  <a:cubicBezTo>
                    <a:pt x="130815" y="0"/>
                    <a:pt x="0" y="130815"/>
                    <a:pt x="0" y="292183"/>
                  </a:cubicBezTo>
                  <a:cubicBezTo>
                    <a:pt x="0" y="453551"/>
                    <a:pt x="130815" y="584366"/>
                    <a:pt x="292183" y="584366"/>
                  </a:cubicBezTo>
                  <a:cubicBezTo>
                    <a:pt x="453551" y="584366"/>
                    <a:pt x="584366" y="453551"/>
                    <a:pt x="584366" y="292183"/>
                  </a:cubicBezTo>
                  <a:cubicBezTo>
                    <a:pt x="584366" y="130815"/>
                    <a:pt x="453551" y="0"/>
                    <a:pt x="292183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65860" y="4800600"/>
            <a:ext cx="850392" cy="850392"/>
            <a:chOff x="0" y="0"/>
            <a:chExt cx="1133856" cy="11338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9E2D8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212080" y="4800600"/>
            <a:ext cx="850392" cy="850392"/>
            <a:chOff x="0" y="0"/>
            <a:chExt cx="1133856" cy="11338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9E2D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258300" y="4800600"/>
            <a:ext cx="850392" cy="850392"/>
            <a:chOff x="0" y="0"/>
            <a:chExt cx="1133856" cy="11338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9E2D8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3304520" y="4800600"/>
            <a:ext cx="850392" cy="850392"/>
            <a:chOff x="0" y="0"/>
            <a:chExt cx="1133856" cy="11338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9E2D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65860" y="1080230"/>
            <a:ext cx="952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77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06 — Verified 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860" y="1679067"/>
            <a:ext cx="95250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Customer Journey: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5860" y="2529459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GameON Tele Experience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5860" y="5078920"/>
            <a:ext cx="8477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5860" y="6052280"/>
            <a:ext cx="33337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18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Steps 1 –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5860" y="6524815"/>
            <a:ext cx="3333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Launch &amp; Discover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5860" y="7604760"/>
            <a:ext cx="3333750" cy="171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9987" lvl="1" indent="-149994" algn="l">
              <a:lnSpc>
                <a:spcPts val="2273"/>
              </a:lnSpc>
              <a:buAutoNum type="arabicPeriod"/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Open telebirr SuperApp and tap GameON Tele. 2. Browse the Discover screen — categories, trending, and personalized picks. 3. Select a game from the dynamic catalog.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12080" y="5078920"/>
            <a:ext cx="8477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12080" y="6052280"/>
            <a:ext cx="33337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18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Steps 4 – 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2080" y="6524815"/>
            <a:ext cx="3333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Access &amp; Play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12080" y="7433310"/>
            <a:ext cx="3333750" cy="199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9987" lvl="1" indent="-149994" algn="l">
              <a:lnSpc>
                <a:spcPts val="2273"/>
              </a:lnSpc>
              <a:buAutoNum type="arabicPeriod"/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Validate entitlement — subscription check or coin balance confirmed. 5. Game loads instantly via zero-install HTML5/WebGL engine. 6. Play begins — no download, no friction, mobile-first experience.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58300" y="5078920"/>
            <a:ext cx="8477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58300" y="6052280"/>
            <a:ext cx="33337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18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Steps 7 – 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58300" y="6524815"/>
            <a:ext cx="3333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Score &amp; Compete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58300" y="7433310"/>
            <a:ext cx="3333750" cy="171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9987" lvl="1" indent="-149994" algn="l">
              <a:lnSpc>
                <a:spcPts val="2273"/>
              </a:lnSpc>
              <a:buAutoNum type="arabicPeriod"/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Score is recorded — performance logged against masked MSISDN leaderboard. 8. Compete in scheduled tournaments — Daily Sprint, Weekly Championship, or Grand Invitational.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04520" y="5078920"/>
            <a:ext cx="8477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04520" y="6052280"/>
            <a:ext cx="33337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18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Steps 9 – 10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04520" y="6524815"/>
            <a:ext cx="3333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Reward &amp; Return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04520" y="7433310"/>
            <a:ext cx="3333750" cy="171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9987" lvl="1" indent="-149994" algn="l">
              <a:lnSpc>
                <a:spcPts val="2273"/>
              </a:lnSpc>
              <a:buAutoNum type="arabicPeriod"/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Reward distributed — winners receive prizes, coins, or telebirr credits. 10. Return loop activated — notifications, new challenges, and personalized offers drive re-engagement.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5860" y="4183380"/>
            <a:ext cx="5074920" cy="4937760"/>
            <a:chOff x="0" y="0"/>
            <a:chExt cx="786238" cy="764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6238" cy="764988"/>
            </a:xfrm>
            <a:custGeom>
              <a:avLst/>
              <a:gdLst/>
              <a:ahLst/>
              <a:cxnLst/>
              <a:rect l="l" t="t" r="r" b="b"/>
              <a:pathLst>
                <a:path w="786238" h="764988">
                  <a:moveTo>
                    <a:pt x="262221" y="745919"/>
                  </a:moveTo>
                  <a:cubicBezTo>
                    <a:pt x="302529" y="757433"/>
                    <a:pt x="348355" y="764988"/>
                    <a:pt x="393331" y="764988"/>
                  </a:cubicBezTo>
                  <a:cubicBezTo>
                    <a:pt x="438308" y="764988"/>
                    <a:pt x="481587" y="758511"/>
                    <a:pt x="521471" y="746997"/>
                  </a:cubicBezTo>
                  <a:cubicBezTo>
                    <a:pt x="522321" y="746638"/>
                    <a:pt x="523169" y="746638"/>
                    <a:pt x="524017" y="746279"/>
                  </a:cubicBezTo>
                  <a:cubicBezTo>
                    <a:pt x="673797" y="700223"/>
                    <a:pt x="784117" y="578609"/>
                    <a:pt x="786238" y="437548"/>
                  </a:cubicBezTo>
                  <a:lnTo>
                    <a:pt x="786238" y="0"/>
                  </a:lnTo>
                  <a:lnTo>
                    <a:pt x="0" y="0"/>
                  </a:lnTo>
                  <a:lnTo>
                    <a:pt x="0" y="437224"/>
                  </a:lnTo>
                  <a:cubicBezTo>
                    <a:pt x="2122" y="579328"/>
                    <a:pt x="110744" y="700943"/>
                    <a:pt x="262221" y="745919"/>
                  </a:cubicBezTo>
                  <a:close/>
                </a:path>
              </a:pathLst>
            </a:custGeom>
            <a:blipFill>
              <a:blip r:embed="rId3"/>
              <a:stretch>
                <a:fillRect t="-553" b="-553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rot="5880">
            <a:off x="8702507" y="2464117"/>
            <a:ext cx="831247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880">
            <a:off x="8702507" y="3369374"/>
            <a:ext cx="831247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5880">
            <a:off x="8702507" y="4274630"/>
            <a:ext cx="831247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5880">
            <a:off x="8702507" y="5179886"/>
            <a:ext cx="831247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5880">
            <a:off x="8702507" y="6085142"/>
            <a:ext cx="831247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5880">
            <a:off x="8702507" y="6990397"/>
            <a:ext cx="831247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880">
            <a:off x="8702507" y="7895654"/>
            <a:ext cx="831247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880">
            <a:off x="8702507" y="8800910"/>
            <a:ext cx="831247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165860" y="892397"/>
            <a:ext cx="62865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10"/>
              </a:lnSpc>
            </a:pPr>
            <a:r>
              <a:rPr lang="en-US" sz="1341" spc="31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— Ethio Telecom Partnership Proposal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860" y="1821561"/>
            <a:ext cx="628650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5"/>
              </a:lnSpc>
            </a:pPr>
            <a:r>
              <a:rPr lang="en-US" sz="5695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Source of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5860" y="2713101"/>
            <a:ext cx="628650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5"/>
              </a:lnSpc>
            </a:pPr>
            <a:r>
              <a:rPr lang="en-US" sz="5695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Truth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09660" y="1922145"/>
            <a:ext cx="857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5"/>
              </a:lnSpc>
            </a:pPr>
            <a:r>
              <a:rPr lang="en-US" sz="141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1200" y="1871472"/>
            <a:ext cx="7334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7"/>
              </a:lnSpc>
            </a:pPr>
            <a:r>
              <a:rPr lang="en-US" sz="153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Solitaire Classic — Card / Puzzle | Coin Pay-Per-Play + Subscription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9660" y="2827401"/>
            <a:ext cx="857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5"/>
              </a:lnSpc>
            </a:pPr>
            <a:r>
              <a:rPr lang="en-US" sz="141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1200" y="2776728"/>
            <a:ext cx="7334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7"/>
              </a:lnSpc>
            </a:pPr>
            <a:r>
              <a:rPr lang="en-US" sz="153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Ludo King — Board / Strategy | Coin Pay-Per-Play + Subscription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09660" y="3732657"/>
            <a:ext cx="857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5"/>
              </a:lnSpc>
            </a:pPr>
            <a:r>
              <a:rPr lang="en-US" sz="141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1200" y="3681984"/>
            <a:ext cx="7334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7"/>
              </a:lnSpc>
            </a:pPr>
            <a:r>
              <a:rPr lang="en-US" sz="153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2048 Puzzle — Casual / Puzzle | Free Access + Coin Boost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09660" y="4637913"/>
            <a:ext cx="857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5"/>
              </a:lnSpc>
            </a:pPr>
            <a:r>
              <a:rPr lang="en-US" sz="141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1200" y="4587240"/>
            <a:ext cx="7334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7"/>
              </a:lnSpc>
            </a:pPr>
            <a:r>
              <a:rPr lang="en-US" sz="153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Quiz Champion — Trivia / Education | Coin Pay-Per-Play + Subscription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09660" y="5543169"/>
            <a:ext cx="857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5"/>
              </a:lnSpc>
            </a:pPr>
            <a:r>
              <a:rPr lang="en-US" sz="141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01200" y="5492496"/>
            <a:ext cx="7334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7"/>
              </a:lnSpc>
            </a:pPr>
            <a:r>
              <a:rPr lang="en-US" sz="153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Penalty Shootout — Sports / Arcade | Coin Pay-Per-Play + Subscription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09660" y="6448425"/>
            <a:ext cx="857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5"/>
              </a:lnSpc>
            </a:pPr>
            <a:r>
              <a:rPr lang="en-US" sz="141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1200" y="6397752"/>
            <a:ext cx="7334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7"/>
              </a:lnSpc>
            </a:pPr>
            <a:r>
              <a:rPr lang="en-US" sz="153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Bubble Shooter — Casual / Arcade | Free Access + Coin Boost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09660" y="7353681"/>
            <a:ext cx="857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5"/>
              </a:lnSpc>
            </a:pPr>
            <a:r>
              <a:rPr lang="en-US" sz="141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01200" y="7303008"/>
            <a:ext cx="7334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7"/>
              </a:lnSpc>
            </a:pPr>
            <a:r>
              <a:rPr lang="en-US" sz="153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Snake Reloaded — Casual / Arcade | Coin Pay-Per-Play + Subscription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09660" y="8258937"/>
            <a:ext cx="857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5"/>
              </a:lnSpc>
            </a:pPr>
            <a:r>
              <a:rPr lang="en-US" sz="141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+23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01200" y="8208264"/>
            <a:ext cx="73342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7"/>
              </a:lnSpc>
            </a:pPr>
            <a:r>
              <a:rPr lang="en-US" sz="153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Catalog Titles — Mixed Genres | Various Access Models (Phase 1: 30 Games Total)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"/>
            <a:ext cx="7848600" cy="5232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910" y="5247640"/>
            <a:ext cx="10279380" cy="485648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-137160"/>
            <a:ext cx="9448800" cy="564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9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61180"/>
            <a:ext cx="952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8"/>
              </a:lnSpc>
            </a:pPr>
            <a:r>
              <a:rPr lang="en-US" sz="1423" spc="32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08 — Zero-Install Engine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9067"/>
            <a:ext cx="95250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Frictionless play,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5860" y="2529459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no downloads required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44400" y="1953387"/>
            <a:ext cx="4572000" cy="165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164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operates entirely within the telebirr SuperApp webview. No App Store. No Play Store. No installs. Players access the full game catalog instantly from within the existing telebirr ecosystem.</a:t>
            </a:r>
          </a:p>
        </p:txBody>
      </p:sp>
      <p:sp>
        <p:nvSpPr>
          <p:cNvPr id="6" name="AutoShape 6"/>
          <p:cNvSpPr/>
          <p:nvPr/>
        </p:nvSpPr>
        <p:spPr>
          <a:xfrm rot="10200">
            <a:off x="115870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65860" y="5017770"/>
            <a:ext cx="4572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5860" y="5596890"/>
            <a:ext cx="4572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2"/>
              </a:lnSpc>
            </a:pPr>
            <a:r>
              <a:rPr lang="en-US" sz="2935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Native SuperApp Webview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860" y="6709410"/>
            <a:ext cx="4572000" cy="139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72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All games run directly inside the telebirr SuperApp webview using HTML5 and WebGL. No external app installation is required at any point in the user journey.</a:t>
            </a:r>
          </a:p>
        </p:txBody>
      </p:sp>
      <p:sp>
        <p:nvSpPr>
          <p:cNvPr id="10" name="AutoShape 10"/>
          <p:cNvSpPr/>
          <p:nvPr/>
        </p:nvSpPr>
        <p:spPr>
          <a:xfrm rot="10200">
            <a:off x="657652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6583680" y="5017770"/>
            <a:ext cx="4572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3680" y="5596890"/>
            <a:ext cx="4572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2"/>
              </a:lnSpc>
            </a:pPr>
            <a:r>
              <a:rPr lang="en-US" sz="2935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Lightweight Bundles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3680" y="6709410"/>
            <a:ext cx="4572000" cy="174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72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 bundles are sub-5MB and fully optimized for 3G and 4G networks. Low-bandwidth architecture ensures reliable performance across Ethiopia's diverse connectivity landscape.</a:t>
            </a:r>
          </a:p>
        </p:txBody>
      </p:sp>
      <p:sp>
        <p:nvSpPr>
          <p:cNvPr id="14" name="AutoShape 14"/>
          <p:cNvSpPr/>
          <p:nvPr/>
        </p:nvSpPr>
        <p:spPr>
          <a:xfrm rot="10200">
            <a:off x="1199434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001500" y="5017770"/>
            <a:ext cx="4572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1500" y="5596890"/>
            <a:ext cx="4572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2"/>
              </a:lnSpc>
            </a:pPr>
            <a:r>
              <a:rPr lang="en-US" sz="2935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Entitlement Validation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1500" y="6709410"/>
            <a:ext cx="4572000" cy="174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72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Dynamic entitlement validation confirms access rights at session start. Future roadmap includes server-side anti-cheat validation to ensure tournament integrity and platform credibility.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80230"/>
            <a:ext cx="952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9"/>
              </a:lnSpc>
            </a:pPr>
            <a:r>
              <a:rPr lang="en-US" sz="1207" spc="279">
                <a:solidFill>
                  <a:srgbClr val="B5896E"/>
                </a:solidFill>
                <a:latin typeface="Poppins"/>
                <a:ea typeface="Poppins"/>
                <a:cs typeface="Poppins"/>
                <a:sym typeface="Poppins"/>
              </a:rPr>
              <a:t>09 — Business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90116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4"/>
              </a:lnSpc>
            </a:pPr>
            <a:r>
              <a:rPr lang="en-US" sz="5487" i="1">
                <a:solidFill>
                  <a:srgbClr val="EDE7DE"/>
                </a:solidFill>
                <a:latin typeface="Lora Italics"/>
                <a:ea typeface="Lora Italics"/>
                <a:cs typeface="Lora Italics"/>
                <a:sym typeface="Lora Italics"/>
              </a:rPr>
              <a:t>Access &amp; Monetization Models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9625" y="1946910"/>
            <a:ext cx="4572000" cy="114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8"/>
              </a:lnSpc>
            </a:pPr>
            <a:r>
              <a:rPr lang="en-US" sz="1398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Four revenue streams designed to serve every user segment — from casual browsers to committed competitors — within the telebirr SuperApp ecosystem.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6335" y="3899535"/>
            <a:ext cx="4819650" cy="4819650"/>
            <a:chOff x="0" y="0"/>
            <a:chExt cx="6426200" cy="642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714500" y="4457700"/>
            <a:ext cx="685800" cy="685800"/>
            <a:chOff x="0" y="0"/>
            <a:chExt cx="91440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72402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8"/>
              </a:lnSpc>
            </a:pPr>
            <a:r>
              <a:rPr lang="en-US" sz="1398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4500" y="5594795"/>
            <a:ext cx="377190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405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Free Access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4500" y="6718935"/>
            <a:ext cx="3771900" cy="151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1461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Target: All telebirr users. A curated selection of games available at no cost, driving discovery, platform adoption, and top-of-funnel engagement with zero friction.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74155" y="3899535"/>
            <a:ext cx="4819650" cy="4819650"/>
            <a:chOff x="0" y="0"/>
            <a:chExt cx="6426200" cy="6426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132320" y="4457700"/>
            <a:ext cx="685800" cy="685800"/>
            <a:chOff x="0" y="0"/>
            <a:chExt cx="9144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714184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8"/>
              </a:lnSpc>
            </a:pPr>
            <a:r>
              <a:rPr lang="en-US" sz="1398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32320" y="5594795"/>
            <a:ext cx="377190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405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Coin Gaming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32320" y="6718935"/>
            <a:ext cx="3771900" cy="151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1461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Target: Casual &amp; competitive users. Virtual coin pay-per-play model funded via telebirr micro-top-ups. Enables flexible, low-commitment monetization through the coin economy.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991975" y="3899535"/>
            <a:ext cx="4819650" cy="4819650"/>
            <a:chOff x="0" y="0"/>
            <a:chExt cx="6426200" cy="6426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550140" y="4457700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55966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8"/>
              </a:lnSpc>
            </a:pPr>
            <a:r>
              <a:rPr lang="en-US" sz="1398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50140" y="5594795"/>
            <a:ext cx="377190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6"/>
              </a:lnSpc>
            </a:pPr>
            <a:r>
              <a:rPr lang="en-US" sz="2405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Subscriptions &amp; One-Time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50140" y="6718935"/>
            <a:ext cx="3771900" cy="151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15"/>
              </a:lnSpc>
            </a:pPr>
            <a:r>
              <a:rPr lang="en-US" sz="1461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Target: Committed players. Daily (10 ETB), Weekly (50 ETB), and Monthly (100 ETB) passes via telebirr auto-debit. One-time purchases unlock premium titles or tournament entry for high-LTV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61180"/>
            <a:ext cx="952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9"/>
              </a:lnSpc>
            </a:pPr>
            <a:r>
              <a:rPr lang="en-US" sz="1425" spc="33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10 — Illustrative Proposed Pricing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6400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</a:pPr>
            <a:r>
              <a:rPr lang="en-US" sz="5400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Subscription Pricing Tiers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9625" y="1844040"/>
            <a:ext cx="4572000" cy="984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Prices are per telebirr user. All tiers subject to Ethio Telecom approval prior to commercial launch.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6335" y="3419475"/>
            <a:ext cx="4819650" cy="5505450"/>
            <a:chOff x="0" y="0"/>
            <a:chExt cx="6426200" cy="7340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71450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Daily Pass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450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10 ETB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4500" y="6036183"/>
            <a:ext cx="3714750" cy="16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24-hour access window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Unlimited play sessions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Leaderboard eligibility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Instant telebirr activation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74155" y="3419475"/>
            <a:ext cx="4819650" cy="5505450"/>
            <a:chOff x="0" y="0"/>
            <a:chExt cx="6426200" cy="7340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23201C"/>
            </a:solidFill>
            <a:ln w="19050" cap="sq">
              <a:solidFill>
                <a:srgbClr val="23201C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713232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B5896E"/>
                </a:solidFill>
                <a:latin typeface="Poppins"/>
                <a:ea typeface="Poppins"/>
                <a:cs typeface="Poppins"/>
                <a:sym typeface="Poppins"/>
              </a:rPr>
              <a:t>Weekly Pass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232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50 ETB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2320" y="6036183"/>
            <a:ext cx="3714750" cy="16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7-day full access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~28% savings vs. daily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Auto-debit support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Full tournament eligibility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991975" y="3419475"/>
            <a:ext cx="4819650" cy="5505450"/>
            <a:chOff x="0" y="0"/>
            <a:chExt cx="6426200" cy="7340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55014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Monthly Pass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5014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100 ETB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50140" y="6036183"/>
            <a:ext cx="3714750" cy="16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30-day full access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~67% savings vs. daily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Highest LTV driver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Auto-debit + priority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80230"/>
            <a:ext cx="952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85"/>
              </a:lnSpc>
            </a:pPr>
            <a:r>
              <a:rPr lang="en-US" sz="1237" spc="286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11 — Coin Economy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9067"/>
            <a:ext cx="95250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Virtual currency lifecycle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5860" y="2529459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&amp; top-up bundles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44400" y="1962912"/>
            <a:ext cx="4572000" cy="116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44"/>
              </a:lnSpc>
            </a:pPr>
            <a:r>
              <a:rPr lang="en-US" sz="143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Coins power micro-transactions across the GameON Tele platform. Users top up via telebirr, spend per game session, and earn bonus coins through competitive play and loyalty milestones.</a:t>
            </a:r>
          </a:p>
        </p:txBody>
      </p:sp>
      <p:sp>
        <p:nvSpPr>
          <p:cNvPr id="6" name="AutoShape 6"/>
          <p:cNvSpPr/>
          <p:nvPr/>
        </p:nvSpPr>
        <p:spPr>
          <a:xfrm rot="10200">
            <a:off x="115870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65860" y="5017770"/>
            <a:ext cx="4572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3"/>
              </a:lnSpc>
            </a:pPr>
            <a:r>
              <a:rPr lang="en-US" sz="130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5860" y="5606415"/>
            <a:ext cx="4572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7"/>
              </a:lnSpc>
            </a:pPr>
            <a:r>
              <a:rPr lang="en-US" sz="299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Coin Lifecycle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860" y="6718935"/>
            <a:ext cx="4572000" cy="156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5"/>
              </a:lnSpc>
            </a:pPr>
            <a:r>
              <a:rPr lang="en-US" sz="149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Select Game → Check Balance → Deduct or Top-Up → Play &amp; Compete → Earn Bonus Coins → Return &amp; Repeat. Each step is validated against the entitlement engine in real time via telebirr API.</a:t>
            </a:r>
          </a:p>
        </p:txBody>
      </p:sp>
      <p:sp>
        <p:nvSpPr>
          <p:cNvPr id="10" name="AutoShape 10"/>
          <p:cNvSpPr/>
          <p:nvPr/>
        </p:nvSpPr>
        <p:spPr>
          <a:xfrm rot="10200">
            <a:off x="657652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6583680" y="5017770"/>
            <a:ext cx="4572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3"/>
              </a:lnSpc>
            </a:pPr>
            <a:r>
              <a:rPr lang="en-US" sz="130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3680" y="5606415"/>
            <a:ext cx="4572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7"/>
              </a:lnSpc>
            </a:pPr>
            <a:r>
              <a:rPr lang="en-US" sz="299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Telebirr Top-Up Packs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3680" y="6718935"/>
            <a:ext cx="4572000" cy="250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5"/>
              </a:lnSpc>
            </a:pPr>
            <a:r>
              <a:rPr lang="en-US" sz="149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Starter Pack: 50 coins — 5 ETB — No bonus</a:t>
            </a:r>
          </a:p>
          <a:p>
            <a:pPr marL="0" lvl="0" indent="0" algn="l">
              <a:lnSpc>
                <a:spcPts val="2475"/>
              </a:lnSpc>
            </a:pPr>
            <a:r>
              <a:rPr lang="en-US" sz="149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Basic Pack: 120 coins — 10 ETB — +10 bonus coins</a:t>
            </a:r>
          </a:p>
          <a:p>
            <a:pPr marL="0" lvl="0" indent="0" algn="l">
              <a:lnSpc>
                <a:spcPts val="2475"/>
              </a:lnSpc>
            </a:pPr>
            <a:r>
              <a:rPr lang="en-US" sz="149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Value Pack: 300 coins — 20 ETB — +40 bonus coins</a:t>
            </a:r>
          </a:p>
          <a:p>
            <a:pPr marL="0" lvl="0" indent="0" algn="l">
              <a:lnSpc>
                <a:spcPts val="2475"/>
              </a:lnSpc>
            </a:pPr>
            <a:r>
              <a:rPr lang="en-US" sz="149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Premium Pack: 700 coins — 40 ETB — +100 bonus coins</a:t>
            </a:r>
          </a:p>
          <a:p>
            <a:pPr marL="0" lvl="0" indent="0" algn="l">
              <a:lnSpc>
                <a:spcPts val="2475"/>
              </a:lnSpc>
            </a:pPr>
            <a:r>
              <a:rPr lang="en-US" sz="149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Mega Pack: 1,500 coins — 75 ETB — +300 bonus coins</a:t>
            </a:r>
          </a:p>
        </p:txBody>
      </p:sp>
      <p:sp>
        <p:nvSpPr>
          <p:cNvPr id="14" name="AutoShape 14"/>
          <p:cNvSpPr/>
          <p:nvPr/>
        </p:nvSpPr>
        <p:spPr>
          <a:xfrm rot="10200">
            <a:off x="1199434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001500" y="5017770"/>
            <a:ext cx="4572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3"/>
              </a:lnSpc>
            </a:pPr>
            <a:r>
              <a:rPr lang="en-US" sz="130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1500" y="5606415"/>
            <a:ext cx="4572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7"/>
              </a:lnSpc>
            </a:pPr>
            <a:r>
              <a:rPr lang="en-US" sz="299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Bonus Incentives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1500" y="6718935"/>
            <a:ext cx="4572000" cy="187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5"/>
              </a:lnSpc>
            </a:pPr>
            <a:r>
              <a:rPr lang="en-US" sz="149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Larger packs deliver progressively higher bonus coin yields, rewarding higher spend. Bonus coins are credited instantly and eligible for all games, tournaments, and leaderboard entries — reinforcing platform stickiness and repeat top-up behaviour.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80230"/>
            <a:ext cx="952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77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12 — Tournament Brackets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6400"/>
            <a:ext cx="952500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70"/>
              </a:lnSpc>
            </a:pPr>
            <a:r>
              <a:rPr lang="en-US" sz="5141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Scheduled Esports Tournaments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9625" y="1844040"/>
            <a:ext cx="4572000" cy="57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3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Prize structure and reward types are subject to Ethio Telecom approval prior to launch.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6335" y="3419475"/>
            <a:ext cx="4819650" cy="5505450"/>
            <a:chOff x="0" y="0"/>
            <a:chExt cx="6426200" cy="7340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714500" y="4057650"/>
            <a:ext cx="36957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15"/>
              </a:lnSpc>
            </a:pPr>
            <a:r>
              <a:rPr lang="en-US" sz="1263" spc="227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Daily Sprint Cup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450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56"/>
              </a:lnSpc>
            </a:pPr>
            <a:r>
              <a:rPr lang="en-US" sz="40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2 – 5 ETB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4500" y="6055233"/>
            <a:ext cx="3714750" cy="174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Entry: 2–5 ETB coin deduction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Cycle: 24-hour reset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Rewards: Coin credits &amp; badges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Eligibility: All active subscribers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Leaderboard: Daily ranking reset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74155" y="3419475"/>
            <a:ext cx="4819650" cy="5505450"/>
            <a:chOff x="0" y="0"/>
            <a:chExt cx="6426200" cy="7340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23201C"/>
            </a:solidFill>
            <a:ln w="19050" cap="sq">
              <a:solidFill>
                <a:srgbClr val="23201C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7132320" y="4057650"/>
            <a:ext cx="36957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15"/>
              </a:lnSpc>
            </a:pPr>
            <a:r>
              <a:rPr lang="en-US" sz="1263" spc="227">
                <a:solidFill>
                  <a:srgbClr val="B5896E"/>
                </a:solidFill>
                <a:latin typeface="Poppins"/>
                <a:ea typeface="Poppins"/>
                <a:cs typeface="Poppins"/>
                <a:sym typeface="Poppins"/>
              </a:rPr>
              <a:t>Weekly Championship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232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56"/>
              </a:lnSpc>
            </a:pPr>
            <a:r>
              <a:rPr lang="en-US" sz="4047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10 – 20 ETB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2320" y="6055233"/>
            <a:ext cx="3714750" cy="174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Entry: 10–20 ETB coin deduction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Cycle: 7-day tournament window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Rewards: Coin bundles &amp; trophies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Eligibility: Weekly pass holders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Leaderboard: Cumulative weekly score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991975" y="3419475"/>
            <a:ext cx="4819650" cy="5505450"/>
            <a:chOff x="0" y="0"/>
            <a:chExt cx="6426200" cy="7340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550140" y="4057650"/>
            <a:ext cx="36957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15"/>
              </a:lnSpc>
            </a:pPr>
            <a:r>
              <a:rPr lang="en-US" sz="1263" spc="227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Monthly Grand Invitational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5014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56"/>
              </a:lnSpc>
            </a:pPr>
            <a:r>
              <a:rPr lang="en-US" sz="40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50 ETB+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50140" y="6055233"/>
            <a:ext cx="3714750" cy="244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Entry: 50 ETB+ coin deduction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Cycle: 30-day grand tournament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Rewards: Premium prizes &amp; titles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Eligibility: Monthly subscribers</a:t>
            </a:r>
          </a:p>
          <a:p>
            <a:pPr marL="0" lvl="0" indent="0" algn="l">
              <a:lnSpc>
                <a:spcPts val="2792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Sponsored Corporate Cups: Custom entry &amp; reward tiers available for enterprise partners on request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04520" y="1089755"/>
            <a:ext cx="3771900" cy="3771900"/>
            <a:chOff x="0" y="0"/>
            <a:chExt cx="584366" cy="5843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366" cy="584366"/>
            </a:xfrm>
            <a:custGeom>
              <a:avLst/>
              <a:gdLst/>
              <a:ahLst/>
              <a:cxnLst/>
              <a:rect l="l" t="t" r="r" b="b"/>
              <a:pathLst>
                <a:path w="584366" h="584366">
                  <a:moveTo>
                    <a:pt x="292183" y="0"/>
                  </a:moveTo>
                  <a:cubicBezTo>
                    <a:pt x="130815" y="0"/>
                    <a:pt x="0" y="130815"/>
                    <a:pt x="0" y="292183"/>
                  </a:cubicBezTo>
                  <a:cubicBezTo>
                    <a:pt x="0" y="453551"/>
                    <a:pt x="130815" y="584366"/>
                    <a:pt x="292183" y="584366"/>
                  </a:cubicBezTo>
                  <a:cubicBezTo>
                    <a:pt x="453551" y="584366"/>
                    <a:pt x="584366" y="453551"/>
                    <a:pt x="584366" y="292183"/>
                  </a:cubicBezTo>
                  <a:cubicBezTo>
                    <a:pt x="584366" y="130815"/>
                    <a:pt x="453551" y="0"/>
                    <a:pt x="292183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65860" y="4800600"/>
            <a:ext cx="850392" cy="850392"/>
            <a:chOff x="0" y="0"/>
            <a:chExt cx="1133856" cy="11338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9E2D8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212080" y="4800600"/>
            <a:ext cx="850392" cy="850392"/>
            <a:chOff x="0" y="0"/>
            <a:chExt cx="1133856" cy="11338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9E2D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258300" y="4800600"/>
            <a:ext cx="850392" cy="850392"/>
            <a:chOff x="0" y="0"/>
            <a:chExt cx="1133856" cy="11338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9E2D8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3304520" y="4800600"/>
            <a:ext cx="850392" cy="850392"/>
            <a:chOff x="0" y="0"/>
            <a:chExt cx="1133856" cy="11338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9E2D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65860" y="1070705"/>
            <a:ext cx="9525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"/>
              </a:lnSpc>
            </a:pPr>
            <a:r>
              <a:rPr lang="en-US" sz="1401" spc="324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13 — Target Scalability Roadmap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860" y="1679067"/>
            <a:ext cx="95250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Phased Content Expansion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5860" y="2529459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&amp; Ecosystem Growth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5860" y="5088445"/>
            <a:ext cx="8477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7"/>
              </a:lnSpc>
            </a:pPr>
            <a:r>
              <a:rPr lang="en-US" sz="162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5860" y="6042755"/>
            <a:ext cx="3333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"/>
              </a:lnSpc>
            </a:pPr>
            <a:r>
              <a:rPr lang="en-US" sz="1401" spc="221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Phase 1 — Current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5860" y="6524815"/>
            <a:ext cx="3333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30 Games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5860" y="7604760"/>
            <a:ext cx="3333750" cy="98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5"/>
              </a:lnSpc>
            </a:pPr>
            <a:r>
              <a:rPr lang="en-US" sz="162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7 core titles + 23 catalog games. Foundation launch within telebirr SuperApp.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12080" y="5088445"/>
            <a:ext cx="8477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7"/>
              </a:lnSpc>
            </a:pPr>
            <a:r>
              <a:rPr lang="en-US" sz="162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12080" y="6042755"/>
            <a:ext cx="3333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"/>
              </a:lnSpc>
            </a:pPr>
            <a:r>
              <a:rPr lang="en-US" sz="1401" spc="221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Phase 2 — Pilot Expansion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2080" y="6524815"/>
            <a:ext cx="3333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45+ Games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12080" y="7433310"/>
            <a:ext cx="3333750" cy="98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5"/>
              </a:lnSpc>
            </a:pPr>
            <a:r>
              <a:rPr lang="en-US" sz="162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Localized content additions. Regional language support and culturally adapted titles.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58300" y="5088445"/>
            <a:ext cx="8477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7"/>
              </a:lnSpc>
            </a:pPr>
            <a:r>
              <a:rPr lang="en-US" sz="162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58300" y="6042755"/>
            <a:ext cx="3333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"/>
              </a:lnSpc>
            </a:pPr>
            <a:r>
              <a:rPr lang="en-US" sz="1401" spc="221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Phase 3 — Studio Integration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58300" y="6524815"/>
            <a:ext cx="3333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65+ Games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58300" y="7433310"/>
            <a:ext cx="3333750" cy="98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5"/>
              </a:lnSpc>
            </a:pPr>
            <a:r>
              <a:rPr lang="en-US" sz="162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Licensed third-party studio titles. Broader genre coverage and premium catalog depth.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04520" y="5088445"/>
            <a:ext cx="84772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7"/>
              </a:lnSpc>
            </a:pPr>
            <a:r>
              <a:rPr lang="en-US" sz="1622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04520" y="6042755"/>
            <a:ext cx="3333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"/>
              </a:lnSpc>
            </a:pPr>
            <a:r>
              <a:rPr lang="en-US" sz="1401" spc="221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Phase 4–5 — Full Ecosystem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04520" y="6524815"/>
            <a:ext cx="3333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85–100+ Games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04520" y="7433310"/>
            <a:ext cx="3333750" cy="1319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5"/>
              </a:lnSpc>
            </a:pPr>
            <a:r>
              <a:rPr lang="en-US" sz="162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Phase 4: Developer SDK enabling 85+ games. Phase 5: Full ecosystem with 100+ titles and open developer 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80230"/>
            <a:ext cx="952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77">
                <a:solidFill>
                  <a:srgbClr val="B5896E"/>
                </a:solidFill>
                <a:latin typeface="Poppins"/>
                <a:ea typeface="Poppins"/>
                <a:cs typeface="Poppins"/>
                <a:sym typeface="Poppins"/>
              </a:rPr>
              <a:t>14 — Growth Flywheel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90116"/>
            <a:ext cx="9525000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4"/>
              </a:lnSpc>
            </a:pPr>
            <a:r>
              <a:rPr lang="en-US" sz="5487" i="1">
                <a:solidFill>
                  <a:srgbClr val="EDE7DE"/>
                </a:solidFill>
                <a:latin typeface="Lora Italics"/>
                <a:ea typeface="Lora Italics"/>
                <a:cs typeface="Lora Italics"/>
                <a:sym typeface="Lora Italics"/>
              </a:rPr>
              <a:t>The self-reinforcing growth loop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9625" y="1946910"/>
            <a:ext cx="4572000" cy="114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3"/>
              </a:lnSpc>
            </a:pPr>
            <a:r>
              <a:rPr lang="en-US" sz="1389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Each stage of the GameON Tele ecosystem feeds the next — creating a compounding flywheel that drives engagement, monetization, and reinvestment across the platform.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6335" y="3899535"/>
            <a:ext cx="4819650" cy="4819650"/>
            <a:chOff x="0" y="0"/>
            <a:chExt cx="6426200" cy="642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714500" y="4457700"/>
            <a:ext cx="685800" cy="685800"/>
            <a:chOff x="0" y="0"/>
            <a:chExt cx="91440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72402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4500" y="5585270"/>
            <a:ext cx="37719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7"/>
              </a:lnSpc>
            </a:pPr>
            <a:r>
              <a:rPr lang="en-US" sz="3098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Acquire &amp; Engage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4500" y="6728460"/>
            <a:ext cx="3771900" cy="145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452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More Games → More Choice → More Playtime. An expanding catalog drives discovery, increases session frequency, and deepens daily active engagement across all user segments.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74155" y="3899535"/>
            <a:ext cx="4819650" cy="4819650"/>
            <a:chOff x="0" y="0"/>
            <a:chExt cx="6426200" cy="6426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132320" y="4457700"/>
            <a:ext cx="685800" cy="685800"/>
            <a:chOff x="0" y="0"/>
            <a:chExt cx="9144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714184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32320" y="5585270"/>
            <a:ext cx="37719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7"/>
              </a:lnSpc>
            </a:pPr>
            <a:r>
              <a:rPr lang="en-US" sz="3098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Compete &amp; Retain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32320" y="6728460"/>
            <a:ext cx="3771900" cy="145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452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More Competition → Higher Return Rate. Leaderboards, tournaments, and reward cycles create habitual return behaviour, reducing churn and strengthening platform loyalty.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991975" y="3899535"/>
            <a:ext cx="4819650" cy="4819650"/>
            <a:chOff x="0" y="0"/>
            <a:chExt cx="6426200" cy="6426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26200" cy="6426200"/>
            </a:xfrm>
            <a:custGeom>
              <a:avLst/>
              <a:gdLst/>
              <a:ahLst/>
              <a:cxnLst/>
              <a:rect l="l" t="t" r="r" b="b"/>
              <a:pathLst>
                <a:path w="6426200" h="64262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6205855"/>
                  </a:lnTo>
                  <a:cubicBezTo>
                    <a:pt x="6426200" y="6327521"/>
                    <a:pt x="6327521" y="6426200"/>
                    <a:pt x="6205855" y="6426200"/>
                  </a:cubicBezTo>
                  <a:lnTo>
                    <a:pt x="220345" y="6426200"/>
                  </a:lnTo>
                  <a:cubicBezTo>
                    <a:pt x="98679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2E2A24"/>
            </a:solidFill>
            <a:ln w="19050" cap="sq">
              <a:solidFill>
                <a:srgbClr val="2E2A24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550140" y="4457700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92543C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559665" y="4657725"/>
            <a:ext cx="66675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7"/>
              </a:lnSpc>
            </a:pPr>
            <a:r>
              <a:rPr lang="en-US" sz="1389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50140" y="5585270"/>
            <a:ext cx="37719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7"/>
              </a:lnSpc>
            </a:pPr>
            <a:r>
              <a:rPr lang="en-US" sz="3098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Monetize &amp; Reinvest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50140" y="6728460"/>
            <a:ext cx="3771900" cy="175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452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Higher Monetization → Reinvestment → More Games. Revenue from subscriptions and coin micro-transactions funds catalog expansion, closing the loop and accelerating the next cycle.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61180"/>
            <a:ext cx="952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8"/>
              </a:lnSpc>
            </a:pPr>
            <a:r>
              <a:rPr lang="en-US" sz="1423" spc="329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15 — Operator Value Proposition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9067"/>
            <a:ext cx="95250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Why Ethio Telecom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5860" y="2529459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5"/>
              </a:lnSpc>
            </a:pPr>
            <a:r>
              <a:rPr lang="en-US" sz="5396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wins with GameON Tele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44400" y="1953387"/>
            <a:ext cx="4572000" cy="165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1648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delivers measurable commercial and strategic returns across every dimension of Ethio Telecom's digital growth agenda — from revenue to retention.</a:t>
            </a:r>
          </a:p>
        </p:txBody>
      </p:sp>
      <p:sp>
        <p:nvSpPr>
          <p:cNvPr id="6" name="AutoShape 6"/>
          <p:cNvSpPr/>
          <p:nvPr/>
        </p:nvSpPr>
        <p:spPr>
          <a:xfrm rot="10200">
            <a:off x="115870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65860" y="5017770"/>
            <a:ext cx="4572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5860" y="5606415"/>
            <a:ext cx="45720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9"/>
              </a:lnSpc>
            </a:pPr>
            <a:r>
              <a:rPr lang="en-US" sz="229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High-Margin Digital Revenue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860" y="6709410"/>
            <a:ext cx="4572000" cy="139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72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Subscriptions, coin micro-purchases, and carrier billing generate recurring, high-margin digital revenue streams with minimal infrastructure overhead.</a:t>
            </a:r>
          </a:p>
        </p:txBody>
      </p:sp>
      <p:sp>
        <p:nvSpPr>
          <p:cNvPr id="10" name="AutoShape 10"/>
          <p:cNvSpPr/>
          <p:nvPr/>
        </p:nvSpPr>
        <p:spPr>
          <a:xfrm rot="10200">
            <a:off x="657652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6583680" y="5017770"/>
            <a:ext cx="4572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3680" y="5606415"/>
            <a:ext cx="45720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9"/>
              </a:lnSpc>
            </a:pPr>
            <a:r>
              <a:rPr lang="en-US" sz="229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SuperApp Stickiness &amp; DAU Uplift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3680" y="6709410"/>
            <a:ext cx="4572000" cy="139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72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Daily tournaments, leaderboards, and reward loops drive habitual return visits to telebirr, increasing daily active users and session depth across the SuperApp.</a:t>
            </a:r>
          </a:p>
        </p:txBody>
      </p:sp>
      <p:sp>
        <p:nvSpPr>
          <p:cNvPr id="14" name="AutoShape 14"/>
          <p:cNvSpPr/>
          <p:nvPr/>
        </p:nvSpPr>
        <p:spPr>
          <a:xfrm rot="10200">
            <a:off x="1199434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001500" y="5017770"/>
            <a:ext cx="4572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1500" y="5606415"/>
            <a:ext cx="45720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9"/>
              </a:lnSpc>
            </a:pPr>
            <a:r>
              <a:rPr lang="en-US" sz="2291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Youth Market &amp; Ecosystem Moat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1500" y="6709410"/>
            <a:ext cx="4572000" cy="174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72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Gaming captures Ethiopia's youth demographic, builds long-term brand affinity, accelerates mobile data bundle sales, and creates a competitive moat against rival platforms.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5860" y="4869180"/>
            <a:ext cx="5486400" cy="4251960"/>
            <a:chOff x="0" y="0"/>
            <a:chExt cx="849987" cy="6587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9987" cy="658740"/>
            </a:xfrm>
            <a:custGeom>
              <a:avLst/>
              <a:gdLst/>
              <a:ahLst/>
              <a:cxnLst/>
              <a:rect l="l" t="t" r="r" b="b"/>
              <a:pathLst>
                <a:path w="849987" h="658740">
                  <a:moveTo>
                    <a:pt x="35278" y="0"/>
                  </a:moveTo>
                  <a:lnTo>
                    <a:pt x="814709" y="0"/>
                  </a:lnTo>
                  <a:cubicBezTo>
                    <a:pt x="824065" y="0"/>
                    <a:pt x="833038" y="3717"/>
                    <a:pt x="839654" y="10333"/>
                  </a:cubicBezTo>
                  <a:cubicBezTo>
                    <a:pt x="846270" y="16948"/>
                    <a:pt x="849987" y="25922"/>
                    <a:pt x="849987" y="35278"/>
                  </a:cubicBezTo>
                  <a:lnTo>
                    <a:pt x="849987" y="623462"/>
                  </a:lnTo>
                  <a:cubicBezTo>
                    <a:pt x="849987" y="642945"/>
                    <a:pt x="834193" y="658740"/>
                    <a:pt x="814709" y="658740"/>
                  </a:cubicBezTo>
                  <a:lnTo>
                    <a:pt x="35278" y="658740"/>
                  </a:lnTo>
                  <a:cubicBezTo>
                    <a:pt x="15794" y="658740"/>
                    <a:pt x="0" y="642945"/>
                    <a:pt x="0" y="62346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blipFill>
              <a:blip r:embed="rId3"/>
              <a:stretch>
                <a:fillRect t="-322" b="-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02855" y="1636395"/>
            <a:ext cx="4545330" cy="3310890"/>
            <a:chOff x="0" y="0"/>
            <a:chExt cx="6060440" cy="44145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60440" cy="4414520"/>
            </a:xfrm>
            <a:custGeom>
              <a:avLst/>
              <a:gdLst/>
              <a:ahLst/>
              <a:cxnLst/>
              <a:rect l="l" t="t" r="r" b="b"/>
              <a:pathLst>
                <a:path w="6060440" h="44145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839714" y="0"/>
                  </a:lnTo>
                  <a:cubicBezTo>
                    <a:pt x="5961634" y="0"/>
                    <a:pt x="6060440" y="98806"/>
                    <a:pt x="6060440" y="220726"/>
                  </a:cubicBezTo>
                  <a:lnTo>
                    <a:pt x="6060440" y="4193794"/>
                  </a:lnTo>
                  <a:cubicBezTo>
                    <a:pt x="6060440" y="4315714"/>
                    <a:pt x="5961634" y="4414520"/>
                    <a:pt x="583971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092440" y="2125980"/>
            <a:ext cx="576072" cy="576072"/>
            <a:chOff x="0" y="0"/>
            <a:chExt cx="768096" cy="7680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3EFE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540615" y="1636395"/>
            <a:ext cx="4545330" cy="3310890"/>
            <a:chOff x="0" y="0"/>
            <a:chExt cx="6060440" cy="4414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60440" cy="4414520"/>
            </a:xfrm>
            <a:custGeom>
              <a:avLst/>
              <a:gdLst/>
              <a:ahLst/>
              <a:cxnLst/>
              <a:rect l="l" t="t" r="r" b="b"/>
              <a:pathLst>
                <a:path w="6060440" h="44145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839714" y="0"/>
                  </a:lnTo>
                  <a:cubicBezTo>
                    <a:pt x="5961634" y="0"/>
                    <a:pt x="6060440" y="98806"/>
                    <a:pt x="6060440" y="220726"/>
                  </a:cubicBezTo>
                  <a:lnTo>
                    <a:pt x="6060440" y="4193794"/>
                  </a:lnTo>
                  <a:cubicBezTo>
                    <a:pt x="6060440" y="4315714"/>
                    <a:pt x="5961634" y="4414520"/>
                    <a:pt x="583971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030200" y="2125980"/>
            <a:ext cx="576072" cy="576072"/>
            <a:chOff x="0" y="0"/>
            <a:chExt cx="768096" cy="7680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3EFE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602855" y="5408295"/>
            <a:ext cx="4545330" cy="3310890"/>
            <a:chOff x="0" y="0"/>
            <a:chExt cx="6060440" cy="4414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60440" cy="4414520"/>
            </a:xfrm>
            <a:custGeom>
              <a:avLst/>
              <a:gdLst/>
              <a:ahLst/>
              <a:cxnLst/>
              <a:rect l="l" t="t" r="r" b="b"/>
              <a:pathLst>
                <a:path w="6060440" h="44145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839714" y="0"/>
                  </a:lnTo>
                  <a:cubicBezTo>
                    <a:pt x="5961634" y="0"/>
                    <a:pt x="6060440" y="98806"/>
                    <a:pt x="6060440" y="220726"/>
                  </a:cubicBezTo>
                  <a:lnTo>
                    <a:pt x="6060440" y="4193794"/>
                  </a:lnTo>
                  <a:cubicBezTo>
                    <a:pt x="6060440" y="4315714"/>
                    <a:pt x="5961634" y="4414520"/>
                    <a:pt x="583971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092440" y="5897880"/>
            <a:ext cx="576072" cy="576072"/>
            <a:chOff x="0" y="0"/>
            <a:chExt cx="768096" cy="7680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3EFE9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540615" y="5408295"/>
            <a:ext cx="4545330" cy="3310890"/>
            <a:chOff x="0" y="0"/>
            <a:chExt cx="6060440" cy="4414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60440" cy="4414520"/>
            </a:xfrm>
            <a:custGeom>
              <a:avLst/>
              <a:gdLst/>
              <a:ahLst/>
              <a:cxnLst/>
              <a:rect l="l" t="t" r="r" b="b"/>
              <a:pathLst>
                <a:path w="6060440" h="44145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5839714" y="0"/>
                  </a:lnTo>
                  <a:cubicBezTo>
                    <a:pt x="5961634" y="0"/>
                    <a:pt x="6060440" y="98806"/>
                    <a:pt x="6060440" y="220726"/>
                  </a:cubicBezTo>
                  <a:lnTo>
                    <a:pt x="6060440" y="4193794"/>
                  </a:lnTo>
                  <a:cubicBezTo>
                    <a:pt x="6060440" y="4315714"/>
                    <a:pt x="5961634" y="4414520"/>
                    <a:pt x="5839714" y="4414520"/>
                  </a:cubicBezTo>
                  <a:lnTo>
                    <a:pt x="220726" y="4414520"/>
                  </a:lnTo>
                  <a:cubicBezTo>
                    <a:pt x="98806" y="4414520"/>
                    <a:pt x="0" y="4315714"/>
                    <a:pt x="0" y="4193794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3030200" y="5897880"/>
            <a:ext cx="576072" cy="576072"/>
            <a:chOff x="0" y="0"/>
            <a:chExt cx="768096" cy="7680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3EFE9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65860" y="1080230"/>
            <a:ext cx="5905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77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16 — Partner Value Proposition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5860" y="1684401"/>
            <a:ext cx="590550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5"/>
              </a:lnSpc>
            </a:pPr>
            <a:r>
              <a:rPr lang="en-US" sz="5695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Partner Value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5860" y="3093720"/>
            <a:ext cx="5905500" cy="869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452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Tele's strategic benefits from partnering with Ethio Telecom — from national distribution and frictionless payments to trusted co-branding and long-term ecosystem growth.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92440" y="2947606"/>
            <a:ext cx="35623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7"/>
              </a:lnSpc>
            </a:pPr>
            <a:r>
              <a:rPr lang="en-US" sz="2548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National Distribution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92440" y="3562350"/>
            <a:ext cx="3562350" cy="107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7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Immediate access to 75M+ telebirr users across Ethiopia — no cold-start acquisition cost, no separate app store dependency.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30200" y="2947606"/>
            <a:ext cx="35623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7"/>
              </a:lnSpc>
            </a:pPr>
            <a:r>
              <a:rPr lang="en-US" sz="2548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Frictionless Payments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30200" y="3562350"/>
            <a:ext cx="3562350" cy="107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7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Native telebirr micro-payment integration enables seamless coin top-ups, subscriptions, and one-time purchases with zero friction at checkout.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92440" y="6719507"/>
            <a:ext cx="35623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7"/>
              </a:lnSpc>
            </a:pPr>
            <a:r>
              <a:rPr lang="en-US" sz="2548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Trusted Co-Branding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92440" y="7334250"/>
            <a:ext cx="3562350" cy="107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7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Ethio Telecom co-branding lends institutional credibility, driving user trust and accelerating adoption across all demographics.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30200" y="6719507"/>
            <a:ext cx="35623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7"/>
              </a:lnSpc>
            </a:pPr>
            <a:r>
              <a:rPr lang="en-US" sz="2548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Ecosystem Scaling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30200" y="7334250"/>
            <a:ext cx="3562350" cy="107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7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Long-term partnership framework supports phased expansion to 100+ games, developer SDK access, and sustained platform innovation.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61180"/>
            <a:ext cx="952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9"/>
              </a:lnSpc>
            </a:pPr>
            <a:r>
              <a:rPr lang="en-US" sz="1425" spc="33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17 — Technical Capabilities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9067"/>
            <a:ext cx="95250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</a:pPr>
            <a:r>
              <a:rPr lang="en-US" sz="540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Platform Engineering &amp;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5860" y="2529459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</a:pPr>
            <a:r>
              <a:rPr lang="en-US" sz="5400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Technical Foundation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44400" y="1953387"/>
            <a:ext cx="4572000" cy="165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is built on proven, production-grade technology designed for seamless integration within Ethio Telecom's SuperApp infrastructure and optimised for Ethiopia's network environment.</a:t>
            </a:r>
          </a:p>
        </p:txBody>
      </p:sp>
      <p:sp>
        <p:nvSpPr>
          <p:cNvPr id="6" name="AutoShape 6"/>
          <p:cNvSpPr/>
          <p:nvPr/>
        </p:nvSpPr>
        <p:spPr>
          <a:xfrm rot="10200">
            <a:off x="115870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165860" y="5008245"/>
            <a:ext cx="457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5860" y="5596890"/>
            <a:ext cx="45720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</a:pPr>
            <a:r>
              <a:rPr lang="en-US" sz="300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Game Engine Expertise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860" y="6709410"/>
            <a:ext cx="4572000" cy="174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725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HTML5 and WebGL engineering for zero-install, browser-native gameplay. Sub-5MB bundles optimised for 3G/4G with low-latency rendering across all Android and iOS devices.</a:t>
            </a:r>
          </a:p>
        </p:txBody>
      </p:sp>
      <p:sp>
        <p:nvSpPr>
          <p:cNvPr id="10" name="AutoShape 10"/>
          <p:cNvSpPr/>
          <p:nvPr/>
        </p:nvSpPr>
        <p:spPr>
          <a:xfrm rot="10200">
            <a:off x="657652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6583680" y="5008245"/>
            <a:ext cx="457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3680" y="5596890"/>
            <a:ext cx="45720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</a:pPr>
            <a:r>
              <a:rPr lang="en-US" sz="300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SuperApp Integration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3680" y="6709410"/>
            <a:ext cx="4572000" cy="174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725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Telecom Mini-App and SuperApp webview integration. Multi-tier entitlement and billing logic with dynamic validation, telebirr API connectivity, and carrier billing support.</a:t>
            </a:r>
          </a:p>
        </p:txBody>
      </p:sp>
      <p:sp>
        <p:nvSpPr>
          <p:cNvPr id="14" name="AutoShape 14"/>
          <p:cNvSpPr/>
          <p:nvPr/>
        </p:nvSpPr>
        <p:spPr>
          <a:xfrm rot="10200">
            <a:off x="11994347" y="4590097"/>
            <a:ext cx="481490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001500" y="5008245"/>
            <a:ext cx="457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1500" y="5596890"/>
            <a:ext cx="45720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</a:pPr>
            <a:r>
              <a:rPr lang="en-US" sz="300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Localisation &amp; Design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1500" y="6709410"/>
            <a:ext cx="4572000" cy="174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725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Culturally localised game design tailored for Ethiopian users. Full multi-language support, Amharic-first UI, and content frameworks aligned with local preferences and demographics.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50140" y="1577340"/>
            <a:ext cx="4526280" cy="45262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56335" y="4791075"/>
            <a:ext cx="5093970" cy="3928110"/>
            <a:chOff x="0" y="0"/>
            <a:chExt cx="6791960" cy="52374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91960" cy="5237480"/>
            </a:xfrm>
            <a:custGeom>
              <a:avLst/>
              <a:gdLst/>
              <a:ahLst/>
              <a:cxnLst/>
              <a:rect l="l" t="t" r="r" b="b"/>
              <a:pathLst>
                <a:path w="6791960" h="52374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571361" y="0"/>
                  </a:lnTo>
                  <a:cubicBezTo>
                    <a:pt x="6693154" y="0"/>
                    <a:pt x="6791960" y="98806"/>
                    <a:pt x="6791960" y="220599"/>
                  </a:cubicBezTo>
                  <a:lnTo>
                    <a:pt x="6791960" y="5016881"/>
                  </a:lnTo>
                  <a:cubicBezTo>
                    <a:pt x="6791960" y="5138674"/>
                    <a:pt x="6693154" y="5237480"/>
                    <a:pt x="6571361" y="5237480"/>
                  </a:cubicBezTo>
                  <a:lnTo>
                    <a:pt x="220599" y="5237480"/>
                  </a:lnTo>
                  <a:cubicBezTo>
                    <a:pt x="98806" y="5237480"/>
                    <a:pt x="0" y="5138674"/>
                    <a:pt x="0" y="5016881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711315" y="4791075"/>
            <a:ext cx="5093970" cy="3928110"/>
            <a:chOff x="0" y="0"/>
            <a:chExt cx="6791960" cy="5237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91960" cy="5237480"/>
            </a:xfrm>
            <a:custGeom>
              <a:avLst/>
              <a:gdLst/>
              <a:ahLst/>
              <a:cxnLst/>
              <a:rect l="l" t="t" r="r" b="b"/>
              <a:pathLst>
                <a:path w="6791960" h="52374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571361" y="0"/>
                  </a:lnTo>
                  <a:cubicBezTo>
                    <a:pt x="6693154" y="0"/>
                    <a:pt x="6791960" y="98806"/>
                    <a:pt x="6791960" y="220599"/>
                  </a:cubicBezTo>
                  <a:lnTo>
                    <a:pt x="6791960" y="5016881"/>
                  </a:lnTo>
                  <a:cubicBezTo>
                    <a:pt x="6791960" y="5138674"/>
                    <a:pt x="6693154" y="5237480"/>
                    <a:pt x="6571361" y="5237480"/>
                  </a:cubicBezTo>
                  <a:lnTo>
                    <a:pt x="220599" y="5237480"/>
                  </a:lnTo>
                  <a:cubicBezTo>
                    <a:pt x="98806" y="5237480"/>
                    <a:pt x="0" y="5138674"/>
                    <a:pt x="0" y="5016881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65860" y="1080230"/>
            <a:ext cx="8763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20"/>
              </a:lnSpc>
            </a:pPr>
            <a:r>
              <a:rPr lang="en-US" sz="1266" spc="293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18 — Operating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860" y="1684401"/>
            <a:ext cx="876300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5"/>
              </a:lnSpc>
            </a:pPr>
            <a:r>
              <a:rPr lang="en-US" sz="5695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Division of Roles &amp;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5860" y="2575941"/>
            <a:ext cx="876300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5"/>
              </a:lnSpc>
            </a:pPr>
            <a:r>
              <a:rPr lang="en-US" sz="5695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Responsibilities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4500" y="5358955"/>
            <a:ext cx="4000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Ethio Telecom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500" y="6513195"/>
            <a:ext cx="4000500" cy="155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Customer reach &amp; national distribution</a:t>
            </a:r>
          </a:p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SuperApp placement &amp; promotion</a:t>
            </a:r>
          </a:p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Carrier billing &amp; telebirr integration</a:t>
            </a:r>
          </a:p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Marketing &amp; brand co-promotion</a:t>
            </a:r>
          </a:p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Regulatory oversight &amp; compliance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69480" y="5358955"/>
            <a:ext cx="4000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7"/>
              </a:lnSpc>
            </a:pPr>
            <a:r>
              <a:rPr lang="en-US" sz="2847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GameON Tele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69480" y="6332220"/>
            <a:ext cx="4000500" cy="250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Platform hosting &amp; technical infrastructure</a:t>
            </a:r>
          </a:p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Game catalog curation &amp; expansion</a:t>
            </a:r>
          </a:p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Tournament operations &amp; scheduling</a:t>
            </a:r>
          </a:p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Customer support &amp; community management</a:t>
            </a:r>
          </a:p>
          <a:p>
            <a:pPr marL="0" lvl="0" indent="0" algn="l">
              <a:lnSpc>
                <a:spcPts val="2533"/>
              </a:lnSpc>
            </a:pPr>
            <a:r>
              <a:rPr lang="en-US" sz="15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• Continuous innovation &amp; roadmap delivery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50140" y="6654165"/>
            <a:ext cx="4524375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0"/>
              </a:lnSpc>
            </a:pPr>
            <a:r>
              <a:rPr lang="en-US" sz="13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Structured for long-term partnership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50140" y="7378065"/>
            <a:ext cx="4524375" cy="79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3"/>
              </a:lnSpc>
            </a:pPr>
            <a:r>
              <a:rPr lang="en-US" sz="1333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Each partner contributes distinct core strengths, creating a complementary and scalable operating model built for sustainable growth.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5860" y="9344787"/>
            <a:ext cx="3402663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— Confidential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61620" y="9344787"/>
            <a:ext cx="409575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9"/>
              </a:lnSpc>
            </a:pPr>
            <a:r>
              <a:rPr lang="en-US" sz="120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Page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80230"/>
            <a:ext cx="6858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77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19 — Illustrative Revenue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9638"/>
            <a:ext cx="685800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5"/>
              </a:lnSpc>
            </a:pPr>
            <a:r>
              <a:rPr lang="en-US" sz="494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Illustrative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5860" y="2475166"/>
            <a:ext cx="6858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5"/>
              </a:lnSpc>
            </a:pPr>
            <a:r>
              <a:rPr lang="en-US" sz="4946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Revenue 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5860" y="3958209"/>
            <a:ext cx="333375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4796">
                <a:solidFill>
                  <a:srgbClr val="92543C"/>
                </a:solidFill>
                <a:latin typeface="Lora"/>
                <a:ea typeface="Lora"/>
                <a:cs typeface="Lora"/>
                <a:sym typeface="Lora"/>
              </a:rPr>
              <a:t>65–70%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00600" y="3992880"/>
            <a:ext cx="3333750" cy="50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1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Recurring subscriptions (Daily, Weekly, Monthly Pass revenue)</a:t>
            </a:r>
          </a:p>
        </p:txBody>
      </p:sp>
      <p:sp>
        <p:nvSpPr>
          <p:cNvPr id="7" name="AutoShape 7"/>
          <p:cNvSpPr/>
          <p:nvPr/>
        </p:nvSpPr>
        <p:spPr>
          <a:xfrm rot="6960">
            <a:off x="1158707" y="5138738"/>
            <a:ext cx="707804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165860" y="5741289"/>
            <a:ext cx="333375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4796">
                <a:solidFill>
                  <a:srgbClr val="92543C"/>
                </a:solidFill>
                <a:latin typeface="Lora"/>
                <a:ea typeface="Lora"/>
                <a:cs typeface="Lora"/>
                <a:sym typeface="Lora"/>
              </a:rPr>
              <a:t>20–25%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00600" y="5775960"/>
            <a:ext cx="3333750" cy="50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1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Coin micro-purchases via telebirr top-up bundles</a:t>
            </a:r>
          </a:p>
        </p:txBody>
      </p:sp>
      <p:sp>
        <p:nvSpPr>
          <p:cNvPr id="10" name="AutoShape 10"/>
          <p:cNvSpPr/>
          <p:nvPr/>
        </p:nvSpPr>
        <p:spPr>
          <a:xfrm rot="6960">
            <a:off x="1158707" y="6921818"/>
            <a:ext cx="707804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65860" y="7524369"/>
            <a:ext cx="333375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4796">
                <a:solidFill>
                  <a:srgbClr val="92543C"/>
                </a:solidFill>
                <a:latin typeface="Lora"/>
                <a:ea typeface="Lora"/>
                <a:cs typeface="Lora"/>
                <a:sym typeface="Lora"/>
              </a:rPr>
              <a:t>5–15%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0600" y="7559040"/>
            <a:ext cx="3333750" cy="75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1"/>
              </a:lnSpc>
            </a:pPr>
            <a:r>
              <a:rPr lang="en-US" sz="1389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One-time purchases &amp; other digital revenue streams. Subject to negotiation and agreement.</a:t>
            </a:r>
          </a:p>
        </p:txBody>
      </p:sp>
      <p:sp>
        <p:nvSpPr>
          <p:cNvPr id="13" name="AutoShape 13"/>
          <p:cNvSpPr/>
          <p:nvPr/>
        </p:nvSpPr>
        <p:spPr>
          <a:xfrm rot="6960">
            <a:off x="1158707" y="8704898"/>
            <a:ext cx="707804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9248775" y="1567815"/>
            <a:ext cx="7837170" cy="7562850"/>
            <a:chOff x="0" y="0"/>
            <a:chExt cx="10449560" cy="10083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49560" cy="10083800"/>
            </a:xfrm>
            <a:custGeom>
              <a:avLst/>
              <a:gdLst/>
              <a:ahLst/>
              <a:cxnLst/>
              <a:rect l="l" t="t" r="r" b="b"/>
              <a:pathLst>
                <a:path w="10449560" h="100838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229469" y="0"/>
                  </a:lnTo>
                  <a:cubicBezTo>
                    <a:pt x="10351008" y="0"/>
                    <a:pt x="10449560" y="98552"/>
                    <a:pt x="10449560" y="220091"/>
                  </a:cubicBezTo>
                  <a:lnTo>
                    <a:pt x="10449560" y="9863709"/>
                  </a:lnTo>
                  <a:cubicBezTo>
                    <a:pt x="10449560" y="9985248"/>
                    <a:pt x="10351008" y="10083800"/>
                    <a:pt x="10229469" y="10083800"/>
                  </a:cubicBezTo>
                  <a:lnTo>
                    <a:pt x="220091" y="10083800"/>
                  </a:lnTo>
                  <a:cubicBezTo>
                    <a:pt x="98552" y="10083800"/>
                    <a:pt x="0" y="9985248"/>
                    <a:pt x="0" y="9863709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806940" y="2184844"/>
            <a:ext cx="6426743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7"/>
              </a:lnSpc>
            </a:pPr>
            <a:r>
              <a:rPr lang="en-US" sz="1389">
                <a:solidFill>
                  <a:srgbClr val="1F1C19"/>
                </a:solidFill>
                <a:latin typeface="Poppins"/>
                <a:ea typeface="Poppins"/>
                <a:cs typeface="Poppins"/>
                <a:sym typeface="Poppins"/>
              </a:rPr>
              <a:t>ILLUSTRATIVE REVENUE MIX — SUBJECT TO ETHIO TELECOM APPROVAL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137" y="1992167"/>
            <a:ext cx="8913632" cy="71323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80230"/>
            <a:ext cx="6858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2"/>
              </a:lnSpc>
            </a:pPr>
            <a:r>
              <a:rPr lang="en-US" sz="1252" spc="29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20 — Illustrative Base-Case Forecast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9638"/>
            <a:ext cx="685800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5"/>
              </a:lnSpc>
            </a:pPr>
            <a:r>
              <a:rPr lang="en-US" sz="4946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Five-Year Gross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5860" y="2475166"/>
            <a:ext cx="6858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5"/>
              </a:lnSpc>
            </a:pPr>
            <a:r>
              <a:rPr lang="en-US" sz="4946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Revenue Projection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5860" y="3958209"/>
            <a:ext cx="333375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4796">
                <a:solidFill>
                  <a:srgbClr val="92543C"/>
                </a:solidFill>
                <a:latin typeface="Lora"/>
                <a:ea typeface="Lora"/>
                <a:cs typeface="Lora"/>
                <a:sym typeface="Lora"/>
              </a:rPr>
              <a:t>215.50M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00600" y="4002405"/>
            <a:ext cx="3333750" cy="534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9"/>
              </a:lnSpc>
            </a:pPr>
            <a:r>
              <a:rPr lang="en-US" sz="14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ETB total 5-year gross revenue (base case)</a:t>
            </a:r>
          </a:p>
        </p:txBody>
      </p:sp>
      <p:sp>
        <p:nvSpPr>
          <p:cNvPr id="7" name="AutoShape 7"/>
          <p:cNvSpPr/>
          <p:nvPr/>
        </p:nvSpPr>
        <p:spPr>
          <a:xfrm rot="6960">
            <a:off x="1158707" y="5138738"/>
            <a:ext cx="707804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165860" y="5741289"/>
            <a:ext cx="333375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4796">
                <a:solidFill>
                  <a:srgbClr val="92543C"/>
                </a:solidFill>
                <a:latin typeface="Lora"/>
                <a:ea typeface="Lora"/>
                <a:cs typeface="Lora"/>
                <a:sym typeface="Lora"/>
              </a:rPr>
              <a:t>55M+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00600" y="5785485"/>
            <a:ext cx="3333750" cy="534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9"/>
              </a:lnSpc>
            </a:pPr>
            <a:r>
              <a:rPr lang="en-US" sz="14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Telebirr users addressable; Year 5 MAU target 3.50M paid</a:t>
            </a:r>
          </a:p>
        </p:txBody>
      </p:sp>
      <p:sp>
        <p:nvSpPr>
          <p:cNvPr id="10" name="AutoShape 10"/>
          <p:cNvSpPr/>
          <p:nvPr/>
        </p:nvSpPr>
        <p:spPr>
          <a:xfrm rot="6960">
            <a:off x="1158707" y="6921818"/>
            <a:ext cx="707804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65860" y="7524369"/>
            <a:ext cx="333375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4796">
                <a:solidFill>
                  <a:srgbClr val="92543C"/>
                </a:solidFill>
                <a:latin typeface="Lora"/>
                <a:ea typeface="Lora"/>
                <a:cs typeface="Lora"/>
                <a:sym typeface="Lora"/>
              </a:rPr>
              <a:t>Yr1 → Yr5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0600" y="7568565"/>
            <a:ext cx="3333750" cy="534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9"/>
              </a:lnSpc>
            </a:pPr>
            <a:r>
              <a:rPr lang="en-US" sz="14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Baseline launch to peak ecosystem; 15% paid conversion by Year 5</a:t>
            </a:r>
          </a:p>
        </p:txBody>
      </p:sp>
      <p:sp>
        <p:nvSpPr>
          <p:cNvPr id="13" name="AutoShape 13"/>
          <p:cNvSpPr/>
          <p:nvPr/>
        </p:nvSpPr>
        <p:spPr>
          <a:xfrm rot="6960">
            <a:off x="1158707" y="8704898"/>
            <a:ext cx="7078047" cy="0"/>
          </a:xfrm>
          <a:prstGeom prst="line">
            <a:avLst/>
          </a:prstGeom>
          <a:ln w="9525" cap="rnd">
            <a:solidFill>
              <a:srgbClr val="DFD6C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9248775" y="1567815"/>
            <a:ext cx="7837170" cy="7562850"/>
            <a:chOff x="0" y="0"/>
            <a:chExt cx="10449560" cy="10083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49560" cy="10083800"/>
            </a:xfrm>
            <a:custGeom>
              <a:avLst/>
              <a:gdLst/>
              <a:ahLst/>
              <a:cxnLst/>
              <a:rect l="l" t="t" r="r" b="b"/>
              <a:pathLst>
                <a:path w="10449560" h="100838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229469" y="0"/>
                  </a:lnTo>
                  <a:cubicBezTo>
                    <a:pt x="10351008" y="0"/>
                    <a:pt x="10449560" y="98552"/>
                    <a:pt x="10449560" y="220091"/>
                  </a:cubicBezTo>
                  <a:lnTo>
                    <a:pt x="10449560" y="9863709"/>
                  </a:lnTo>
                  <a:cubicBezTo>
                    <a:pt x="10449560" y="9985248"/>
                    <a:pt x="10351008" y="10083800"/>
                    <a:pt x="10229469" y="10083800"/>
                  </a:cubicBezTo>
                  <a:lnTo>
                    <a:pt x="220091" y="10083800"/>
                  </a:lnTo>
                  <a:cubicBezTo>
                    <a:pt x="98552" y="10083800"/>
                    <a:pt x="0" y="9985248"/>
                    <a:pt x="0" y="9863709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806940" y="2194369"/>
            <a:ext cx="6426743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0"/>
              </a:lnSpc>
            </a:pPr>
            <a:r>
              <a:rPr lang="en-US" sz="1450">
                <a:solidFill>
                  <a:srgbClr val="1F1C19"/>
                </a:solidFill>
                <a:latin typeface="Poppins"/>
                <a:ea typeface="Poppins"/>
                <a:cs typeface="Poppins"/>
                <a:sym typeface="Poppins"/>
              </a:rPr>
              <a:t>GROSS ANNUAL REVENUE BY YEAR (ETB MILLION)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441" y="1990212"/>
            <a:ext cx="9061025" cy="71362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61180"/>
            <a:ext cx="952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9"/>
              </a:lnSpc>
            </a:pPr>
            <a:r>
              <a:rPr lang="en-US" sz="1425" spc="33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21 — Illustrative Commercial Scenario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6400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</a:pPr>
            <a:r>
              <a:rPr lang="en-US" sz="5400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Revenue Share Split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9625" y="1844040"/>
            <a:ext cx="4572000" cy="984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Baseline split: 55% Ethio Telecom / 45% GameON Tele. Subject to negotiation and final agreement.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6335" y="3419475"/>
            <a:ext cx="4819650" cy="5505450"/>
            <a:chOff x="0" y="0"/>
            <a:chExt cx="6426200" cy="7340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71450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Years 1 –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450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ETB 28.50M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4500" y="6036183"/>
            <a:ext cx="3714750" cy="2068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Gross Revenue: 28.50M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Ethio Telecom (55%): 15.68M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(45%): 12.83M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Reinvestment reserve: 10%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Regulatory &amp; tax provisions apply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74155" y="3419475"/>
            <a:ext cx="4819650" cy="5505450"/>
            <a:chOff x="0" y="0"/>
            <a:chExt cx="6426200" cy="7340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23201C"/>
            </a:solidFill>
            <a:ln w="19050" cap="sq">
              <a:solidFill>
                <a:srgbClr val="23201C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713232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B5896E"/>
                </a:solidFill>
                <a:latin typeface="Poppins"/>
                <a:ea typeface="Poppins"/>
                <a:cs typeface="Poppins"/>
                <a:sym typeface="Poppins"/>
              </a:rPr>
              <a:t>Years 3 –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232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ETB 89.20M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2320" y="6036183"/>
            <a:ext cx="3714750" cy="2068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Gross Revenue: 89.20M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Ethio Telecom (55%): 49.06M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GameON Tele (45%): 40.14M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Platform hosting fees deducted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Catalog expansion reinvestment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991975" y="3419475"/>
            <a:ext cx="4819650" cy="5505450"/>
            <a:chOff x="0" y="0"/>
            <a:chExt cx="6426200" cy="7340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55014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Year 5 Peak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5014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ETB 97.80M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50140" y="6036183"/>
            <a:ext cx="3714750" cy="2068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Gross Revenue: 97.80M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Ethio Telecom (55%): 53.79M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GameON Tele (45%): 44.01M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5-Year Total: 215.50M ETB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All figures illustrative only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5860" y="1061180"/>
            <a:ext cx="95250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9"/>
              </a:lnSpc>
            </a:pPr>
            <a:r>
              <a:rPr lang="en-US" sz="1425" spc="33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22 — Sensitivity Modeling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5860" y="1676400"/>
            <a:ext cx="952500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</a:pPr>
            <a:r>
              <a:rPr lang="en-US" sz="5400" i="1">
                <a:solidFill>
                  <a:srgbClr val="1F1C19"/>
                </a:solidFill>
                <a:latin typeface="Lora Italics"/>
                <a:ea typeface="Lora Italics"/>
                <a:cs typeface="Lora Italics"/>
                <a:sym typeface="Lora Italics"/>
              </a:rPr>
              <a:t>Sensitivity Modeling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9625" y="1844040"/>
            <a:ext cx="4572000" cy="984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5-year gross revenue outcomes under varying market adoption and conversion assumptions.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6335" y="3419475"/>
            <a:ext cx="4819650" cy="5505450"/>
            <a:chOff x="0" y="0"/>
            <a:chExt cx="6426200" cy="7340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71450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Conservative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450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107.75M ETB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4500" y="6036183"/>
            <a:ext cx="3714750" cy="16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Lower MAU growth curve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Paid conversion: ~2–3%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Coin user rate: ~8%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Ethio Telecom share: ~59.26M ETB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74155" y="3419475"/>
            <a:ext cx="4819650" cy="5505450"/>
            <a:chOff x="0" y="0"/>
            <a:chExt cx="6426200" cy="7340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23201C"/>
            </a:solidFill>
            <a:ln w="19050" cap="sq">
              <a:solidFill>
                <a:srgbClr val="23201C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713232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B5896E"/>
                </a:solidFill>
                <a:latin typeface="Poppins"/>
                <a:ea typeface="Poppins"/>
                <a:cs typeface="Poppins"/>
                <a:sym typeface="Poppins"/>
              </a:rPr>
              <a:t>Base Case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232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215.50M ETB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2320" y="6036183"/>
            <a:ext cx="3714750" cy="16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Moderate MAU trajectory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Paid conversion: ~4–5%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Coin user rate: ~15%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A79C90"/>
                </a:solidFill>
                <a:latin typeface="Poppins"/>
                <a:ea typeface="Poppins"/>
                <a:cs typeface="Poppins"/>
                <a:sym typeface="Poppins"/>
              </a:rPr>
              <a:t>Ethio Telecom share: ~118.53M ETB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991975" y="3419475"/>
            <a:ext cx="4819650" cy="5505450"/>
            <a:chOff x="0" y="0"/>
            <a:chExt cx="6426200" cy="7340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26200" cy="7340600"/>
            </a:xfrm>
            <a:custGeom>
              <a:avLst/>
              <a:gdLst/>
              <a:ahLst/>
              <a:cxnLst/>
              <a:rect l="l" t="t" r="r" b="b"/>
              <a:pathLst>
                <a:path w="6426200" h="734060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205855" y="0"/>
                  </a:lnTo>
                  <a:cubicBezTo>
                    <a:pt x="6327521" y="0"/>
                    <a:pt x="6426200" y="98679"/>
                    <a:pt x="6426200" y="220345"/>
                  </a:cubicBezTo>
                  <a:lnTo>
                    <a:pt x="6426200" y="7120255"/>
                  </a:lnTo>
                  <a:cubicBezTo>
                    <a:pt x="6426200" y="7241921"/>
                    <a:pt x="6327521" y="7340600"/>
                    <a:pt x="6205855" y="7340600"/>
                  </a:cubicBezTo>
                  <a:lnTo>
                    <a:pt x="220345" y="7340600"/>
                  </a:lnTo>
                  <a:cubicBezTo>
                    <a:pt x="98679" y="7340600"/>
                    <a:pt x="0" y="7241921"/>
                    <a:pt x="0" y="7120255"/>
                  </a:cubicBezTo>
                  <a:close/>
                </a:path>
              </a:pathLst>
            </a:custGeom>
            <a:solidFill>
              <a:srgbClr val="E9E2D8"/>
            </a:solidFill>
            <a:ln w="19050" cap="sq">
              <a:solidFill>
                <a:srgbClr val="E9E2D8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550140" y="4048125"/>
            <a:ext cx="36957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500" spc="270">
                <a:solidFill>
                  <a:srgbClr val="92543C"/>
                </a:solidFill>
                <a:latin typeface="Poppins"/>
                <a:ea typeface="Poppins"/>
                <a:cs typeface="Poppins"/>
                <a:sym typeface="Poppins"/>
              </a:rPr>
              <a:t>Upside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50140" y="4624006"/>
            <a:ext cx="36957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</a:pPr>
            <a:r>
              <a:rPr lang="en-US" sz="4050">
                <a:solidFill>
                  <a:srgbClr val="1F1C19"/>
                </a:solidFill>
                <a:latin typeface="Lora"/>
                <a:ea typeface="Lora"/>
                <a:cs typeface="Lora"/>
                <a:sym typeface="Lora"/>
              </a:rPr>
              <a:t>310.20M ETB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50140" y="6036183"/>
            <a:ext cx="3714750" cy="16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Accelerated MAU adoption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Paid conversion: ~6–8%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Coin user rate: ~22%</a:t>
            </a:r>
          </a:p>
          <a:p>
            <a:pPr marL="0" lvl="0" indent="0" algn="l">
              <a:lnSpc>
                <a:spcPts val="3316"/>
              </a:lnSpc>
            </a:pPr>
            <a:r>
              <a:rPr lang="en-US" sz="1650">
                <a:solidFill>
                  <a:srgbClr val="665F58"/>
                </a:solidFill>
                <a:latin typeface="Poppins"/>
                <a:ea typeface="Poppins"/>
                <a:cs typeface="Poppins"/>
                <a:sym typeface="Poppins"/>
              </a:rPr>
              <a:t>Ethio Telecom share: ~170.61M ETB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280" y="0"/>
            <a:ext cx="6903720" cy="10287000"/>
            <a:chOff x="0" y="0"/>
            <a:chExt cx="920496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l="36923" r="36923"/>
            <a:stretch>
              <a:fillRect/>
            </a:stretch>
          </p:blipFill>
          <p:spPr>
            <a:xfrm>
              <a:off x="0" y="0"/>
              <a:ext cx="920496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1384280" y="0"/>
            <a:ext cx="6899148" cy="10287000"/>
            <a:chOff x="0" y="0"/>
            <a:chExt cx="9198864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98864" cy="13716000"/>
            </a:xfrm>
            <a:custGeom>
              <a:avLst/>
              <a:gdLst/>
              <a:ahLst/>
              <a:cxnLst/>
              <a:rect l="l" t="t" r="r" b="b"/>
              <a:pathLst>
                <a:path w="9198864" h="13716000">
                  <a:moveTo>
                    <a:pt x="0" y="0"/>
                  </a:moveTo>
                  <a:lnTo>
                    <a:pt x="9198864" y="0"/>
                  </a:lnTo>
                  <a:lnTo>
                    <a:pt x="91988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9" b="-4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65860" y="1080230"/>
            <a:ext cx="762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20"/>
              </a:lnSpc>
            </a:pPr>
            <a:r>
              <a:rPr lang="en-US" sz="1266" spc="293">
                <a:solidFill>
                  <a:srgbClr val="B5896E"/>
                </a:solidFill>
                <a:latin typeface="Poppins"/>
                <a:ea typeface="Poppins"/>
                <a:cs typeface="Poppins"/>
                <a:sym typeface="Poppins"/>
              </a:rPr>
              <a:t>GameON Tele × Ethio Telecom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5860" y="3029331"/>
            <a:ext cx="76200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86"/>
              </a:lnSpc>
            </a:pPr>
            <a:r>
              <a:rPr lang="en-US" sz="4322">
                <a:solidFill>
                  <a:srgbClr val="EDE7DE"/>
                </a:solidFill>
                <a:latin typeface="Lora"/>
                <a:ea typeface="Lora"/>
                <a:cs typeface="Lora"/>
                <a:sym typeface="Lora"/>
              </a:rPr>
              <a:t>Building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5860" y="4332351"/>
            <a:ext cx="7620000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86"/>
              </a:lnSpc>
            </a:pPr>
            <a:r>
              <a:rPr lang="en-US" sz="4322" i="1">
                <a:solidFill>
                  <a:srgbClr val="EDE7DE"/>
                </a:solidFill>
                <a:latin typeface="Lora Italics"/>
                <a:ea typeface="Lora Italics"/>
                <a:cs typeface="Lora Italics"/>
                <a:sym typeface="Lora Italics"/>
              </a:rPr>
              <a:t>Ethiopia's Premier Digital Gaming &amp; Lifestyle Ecosystem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860" y="6395847"/>
            <a:ext cx="4572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40">
                <a:solidFill>
                  <a:srgbClr val="B8ADA1"/>
                </a:solidFill>
                <a:latin typeface="Poppins"/>
                <a:ea typeface="Poppins"/>
                <a:cs typeface="Poppins"/>
                <a:sym typeface="Poppins"/>
              </a:rPr>
              <a:t>Partnership Office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5860" y="6854095"/>
            <a:ext cx="45720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</a:pPr>
            <a:r>
              <a:rPr lang="en-US" sz="1400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GameON Tele Engineering &amp; Commercial Partnership Office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66460" y="6395847"/>
            <a:ext cx="4572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40">
                <a:solidFill>
                  <a:srgbClr val="B8ADA1"/>
                </a:solidFill>
                <a:latin typeface="Poppins"/>
                <a:ea typeface="Poppins"/>
                <a:cs typeface="Poppins"/>
                <a:sym typeface="Poppins"/>
              </a:rPr>
              <a:t>Date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6460" y="6854095"/>
            <a:ext cx="4572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</a:pPr>
            <a:r>
              <a:rPr lang="en-US" sz="1400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September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860" y="7698867"/>
            <a:ext cx="4572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40">
                <a:solidFill>
                  <a:srgbClr val="B8ADA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5860" y="8157115"/>
            <a:ext cx="4572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</a:pPr>
            <a:r>
              <a:rPr lang="en-US" sz="1400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55M+ telebirr Users | National Distribution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66460" y="7698867"/>
            <a:ext cx="4572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240">
                <a:solidFill>
                  <a:srgbClr val="B8ADA1"/>
                </a:solidFill>
                <a:latin typeface="Poppins"/>
                <a:ea typeface="Poppins"/>
                <a:cs typeface="Poppins"/>
                <a:sym typeface="Poppins"/>
              </a:rPr>
              <a:t>Notice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66460" y="8157115"/>
            <a:ext cx="457200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</a:pPr>
            <a:r>
              <a:rPr lang="en-US" sz="1400">
                <a:solidFill>
                  <a:srgbClr val="EDE7DE"/>
                </a:solidFill>
                <a:latin typeface="Poppins"/>
                <a:ea typeface="Poppins"/>
                <a:cs typeface="Poppins"/>
                <a:sym typeface="Poppins"/>
              </a:rPr>
              <a:t>Proposed strictly for strategic partnership discussion between GameON Tele and Ethio Telecom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2556</Words>
  <Application>Microsoft Office PowerPoint</Application>
  <PresentationFormat>Custom</PresentationFormat>
  <Paragraphs>393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Lora</vt:lpstr>
      <vt:lpstr>Arial</vt:lpstr>
      <vt:lpstr>Poppins</vt:lpstr>
      <vt:lpstr>Lora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Ethio Telecom GameON Tele Partnership Proposal</dc:title>
  <dc:creator>HP</dc:creator>
  <cp:lastModifiedBy>HP</cp:lastModifiedBy>
  <cp:revision>3</cp:revision>
  <dcterms:created xsi:type="dcterms:W3CDTF">2006-08-16T00:00:00Z</dcterms:created>
  <dcterms:modified xsi:type="dcterms:W3CDTF">2026-09-14T19:31:35Z</dcterms:modified>
  <dc:identifier>DAHVM1ybCTk</dc:identifier>
</cp:coreProperties>
</file>